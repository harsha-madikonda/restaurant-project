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jsVAmNONM6nJ1lNBVOtD0rr1xs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 name="Google Shape;5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Shape 15"/>
        <p:cNvGrpSpPr/>
        <p:nvPr/>
      </p:nvGrpSpPr>
      <p:grpSpPr>
        <a:xfrm>
          <a:off x="0" y="0"/>
          <a:ext cx="0" cy="0"/>
          <a:chOff x="0" y="0"/>
          <a:chExt cx="0" cy="0"/>
        </a:xfrm>
      </p:grpSpPr>
      <p:sp>
        <p:nvSpPr>
          <p:cNvPr id="16" name="Google Shape;16;p1"/>
          <p:cNvSpPr/>
          <p:nvPr/>
        </p:nvSpPr>
        <p:spPr>
          <a:xfrm>
            <a:off x="0" y="0"/>
            <a:ext cx="109728" cy="51435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6217920" y="-731520"/>
            <a:ext cx="4114800" cy="4114800"/>
          </a:xfrm>
          <a:prstGeom prst="ellipse">
            <a:avLst/>
          </a:prstGeom>
          <a:solidFill>
            <a:srgbClr val="E76F37">
              <a:alpha val="12156"/>
            </a:srgbClr>
          </a:solidFill>
          <a:ln w="12700" cap="flat" cmpd="sng">
            <a:solidFill>
              <a:srgbClr val="E76F37">
                <a:alpha val="2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6858000" y="2286000"/>
            <a:ext cx="2560320" cy="2560320"/>
          </a:xfrm>
          <a:prstGeom prst="ellipse">
            <a:avLst/>
          </a:prstGeom>
          <a:solidFill>
            <a:srgbClr val="C85A24">
              <a:alpha val="18039"/>
            </a:srgbClr>
          </a:solidFill>
          <a:ln w="12700" cap="flat" cmpd="sng">
            <a:solidFill>
              <a:srgbClr val="C85A24">
                <a:alpha val="25098"/>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365760" y="457200"/>
            <a:ext cx="1097280" cy="1097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4200"/>
              <a:buFont typeface="Calibri"/>
              <a:buNone/>
            </a:pPr>
            <a:r>
              <a:rPr lang="en-US" sz="4200" b="0" i="0" u="none" strike="noStrike" cap="none">
                <a:solidFill>
                  <a:srgbClr val="000000"/>
                </a:solidFill>
                <a:latin typeface="Calibri"/>
                <a:ea typeface="Calibri"/>
                <a:cs typeface="Calibri"/>
                <a:sym typeface="Calibri"/>
              </a:rPr>
              <a:t>🍽️</a:t>
            </a:r>
            <a:endParaRPr sz="4200" b="0" i="0" u="none" strike="noStrike" cap="none">
              <a:solidFill>
                <a:schemeClr val="dk1"/>
              </a:solidFill>
              <a:latin typeface="Calibri"/>
              <a:ea typeface="Calibri"/>
              <a:cs typeface="Calibri"/>
              <a:sym typeface="Calibri"/>
            </a:endParaRPr>
          </a:p>
        </p:txBody>
      </p:sp>
      <p:sp>
        <p:nvSpPr>
          <p:cNvPr id="20" name="Google Shape;20;p1"/>
          <p:cNvSpPr/>
          <p:nvPr/>
        </p:nvSpPr>
        <p:spPr>
          <a:xfrm>
            <a:off x="347472" y="1280160"/>
            <a:ext cx="82296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5600"/>
              <a:buFont typeface="Georgia"/>
              <a:buNone/>
            </a:pPr>
            <a:r>
              <a:rPr lang="en-US" sz="5600" b="1" i="0" u="none" strike="noStrike" cap="none">
                <a:solidFill>
                  <a:srgbClr val="E76F37"/>
                </a:solidFill>
                <a:latin typeface="Georgia"/>
                <a:ea typeface="Georgia"/>
                <a:cs typeface="Georgia"/>
                <a:sym typeface="Georgia"/>
              </a:rPr>
              <a:t>ForkLine</a:t>
            </a:r>
            <a:endParaRPr sz="5600" b="0" i="0" u="none" strike="noStrike" cap="none">
              <a:solidFill>
                <a:schemeClr val="dk1"/>
              </a:solidFill>
              <a:latin typeface="Calibri"/>
              <a:ea typeface="Calibri"/>
              <a:cs typeface="Calibri"/>
              <a:sym typeface="Calibri"/>
            </a:endParaRPr>
          </a:p>
        </p:txBody>
      </p:sp>
      <p:sp>
        <p:nvSpPr>
          <p:cNvPr id="21" name="Google Shape;21;p1"/>
          <p:cNvSpPr/>
          <p:nvPr/>
        </p:nvSpPr>
        <p:spPr>
          <a:xfrm>
            <a:off x="347472" y="2194560"/>
            <a:ext cx="82296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0" i="0" u="none" strike="noStrike" cap="none">
                <a:solidFill>
                  <a:srgbClr val="FFFFFF"/>
                </a:solidFill>
                <a:latin typeface="Calibri"/>
                <a:ea typeface="Calibri"/>
                <a:cs typeface="Calibri"/>
                <a:sym typeface="Calibri"/>
              </a:rPr>
              <a:t>Restaurant Management System</a:t>
            </a:r>
            <a:endParaRPr sz="2200" b="0" i="0" u="none" strike="noStrike" cap="none">
              <a:solidFill>
                <a:schemeClr val="dk1"/>
              </a:solidFill>
              <a:latin typeface="Calibri"/>
              <a:ea typeface="Calibri"/>
              <a:cs typeface="Calibri"/>
              <a:sym typeface="Calibri"/>
            </a:endParaRPr>
          </a:p>
        </p:txBody>
      </p:sp>
      <p:sp>
        <p:nvSpPr>
          <p:cNvPr id="22" name="Google Shape;22;p1"/>
          <p:cNvSpPr/>
          <p:nvPr/>
        </p:nvSpPr>
        <p:spPr>
          <a:xfrm>
            <a:off x="347472" y="2697480"/>
            <a:ext cx="8229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400"/>
              <a:buFont typeface="Calibri"/>
              <a:buNone/>
            </a:pPr>
            <a:r>
              <a:rPr lang="en-US" sz="1400" b="0" i="1" u="none" strike="noStrike" cap="none">
                <a:solidFill>
                  <a:srgbClr val="E76F37"/>
                </a:solidFill>
                <a:latin typeface="Calibri"/>
                <a:ea typeface="Calibri"/>
                <a:cs typeface="Calibri"/>
                <a:sym typeface="Calibri"/>
              </a:rPr>
              <a:t>AI-Powered Full Stack Web Application</a:t>
            </a:r>
            <a:endParaRPr sz="1400" b="0" i="0" u="none" strike="noStrike" cap="none">
              <a:solidFill>
                <a:schemeClr val="dk1"/>
              </a:solidFill>
              <a:latin typeface="Calibri"/>
              <a:ea typeface="Calibri"/>
              <a:cs typeface="Calibri"/>
              <a:sym typeface="Calibri"/>
            </a:endParaRPr>
          </a:p>
        </p:txBody>
      </p:sp>
      <p:sp>
        <p:nvSpPr>
          <p:cNvPr id="23" name="Google Shape;23;p1"/>
          <p:cNvSpPr/>
          <p:nvPr/>
        </p:nvSpPr>
        <p:spPr>
          <a:xfrm>
            <a:off x="347472" y="3246120"/>
            <a:ext cx="3200400" cy="36576"/>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
          <p:cNvSpPr/>
          <p:nvPr/>
        </p:nvSpPr>
        <p:spPr>
          <a:xfrm>
            <a:off x="347472" y="338328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1" i="0" u="none" strike="noStrike" cap="none">
                <a:solidFill>
                  <a:srgbClr val="64748B"/>
                </a:solidFill>
                <a:latin typeface="Calibri"/>
                <a:ea typeface="Calibri"/>
                <a:cs typeface="Calibri"/>
                <a:sym typeface="Calibri"/>
              </a:rPr>
              <a:t>TEAM DETAILS</a:t>
            </a:r>
            <a:endParaRPr sz="900" b="0" i="0" u="none" strike="noStrike" cap="none">
              <a:solidFill>
                <a:schemeClr val="dk1"/>
              </a:solidFill>
              <a:latin typeface="Calibri"/>
              <a:ea typeface="Calibri"/>
              <a:cs typeface="Calibri"/>
              <a:sym typeface="Calibri"/>
            </a:endParaRPr>
          </a:p>
        </p:txBody>
      </p:sp>
      <p:sp>
        <p:nvSpPr>
          <p:cNvPr id="25" name="Google Shape;25;p1"/>
          <p:cNvSpPr/>
          <p:nvPr/>
        </p:nvSpPr>
        <p:spPr>
          <a:xfrm>
            <a:off x="347475" y="3703327"/>
            <a:ext cx="2782800" cy="95070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
          <p:cNvSpPr/>
          <p:nvPr/>
        </p:nvSpPr>
        <p:spPr>
          <a:xfrm>
            <a:off x="518175" y="3956101"/>
            <a:ext cx="2743200" cy="83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M. Harshavardhan Rao</a:t>
            </a:r>
            <a:endParaRPr sz="1100" b="1">
              <a:solidFill>
                <a:srgbClr val="FFFFFF"/>
              </a:solidFill>
              <a:latin typeface="Calibri"/>
              <a:ea typeface="Calibri"/>
              <a:cs typeface="Calibri"/>
              <a:sym typeface="Calibri"/>
            </a:endParaRPr>
          </a:p>
          <a:p>
            <a:pPr marL="0" lvl="0" indent="0" algn="l" rtl="0">
              <a:spcBef>
                <a:spcPts val="0"/>
              </a:spcBef>
              <a:spcAft>
                <a:spcPts val="0"/>
              </a:spcAft>
              <a:buClr>
                <a:schemeClr val="lt1"/>
              </a:buClr>
              <a:buSzPts val="1100"/>
              <a:buFont typeface="Calibri"/>
              <a:buNone/>
            </a:pPr>
            <a:r>
              <a:rPr lang="en-US" sz="1000">
                <a:solidFill>
                  <a:srgbClr val="E76F37"/>
                </a:solidFill>
                <a:latin typeface="Calibri"/>
                <a:ea typeface="Calibri"/>
                <a:cs typeface="Calibri"/>
                <a:sym typeface="Calibri"/>
              </a:rPr>
              <a:t>Full Stack Developer</a:t>
            </a:r>
            <a:endParaRPr sz="1000">
              <a:solidFill>
                <a:srgbClr val="E76F37"/>
              </a:solidFill>
              <a:latin typeface="Calibri"/>
              <a:ea typeface="Calibri"/>
              <a:cs typeface="Calibri"/>
              <a:sym typeface="Calibri"/>
            </a:endParaRPr>
          </a:p>
          <a:p>
            <a:pPr marL="0" lvl="0" indent="0" algn="l" rtl="0">
              <a:spcBef>
                <a:spcPts val="0"/>
              </a:spcBef>
              <a:spcAft>
                <a:spcPts val="0"/>
              </a:spcAft>
              <a:buClr>
                <a:schemeClr val="lt1"/>
              </a:buClr>
              <a:buSzPts val="1100"/>
              <a:buFont typeface="Calibri"/>
              <a:buNone/>
            </a:pPr>
            <a:r>
              <a:rPr lang="en-US" sz="1000">
                <a:solidFill>
                  <a:srgbClr val="E76F37"/>
                </a:solidFill>
                <a:latin typeface="Calibri"/>
                <a:ea typeface="Calibri"/>
                <a:cs typeface="Calibri"/>
                <a:sym typeface="Calibri"/>
              </a:rPr>
              <a:t>Backend Developer</a:t>
            </a:r>
            <a:endParaRPr sz="1000">
              <a:solidFill>
                <a:srgbClr val="E76F37"/>
              </a:solidFill>
              <a:latin typeface="Calibri"/>
              <a:ea typeface="Calibri"/>
              <a:cs typeface="Calibri"/>
              <a:sym typeface="Calibri"/>
            </a:endParaRPr>
          </a:p>
          <a:p>
            <a:pPr marL="0" lvl="0" indent="0" algn="l" rtl="0">
              <a:spcBef>
                <a:spcPts val="0"/>
              </a:spcBef>
              <a:spcAft>
                <a:spcPts val="0"/>
              </a:spcAft>
              <a:buClr>
                <a:schemeClr val="lt1"/>
              </a:buClr>
              <a:buSzPts val="1100"/>
              <a:buFont typeface="Calibri"/>
              <a:buNone/>
            </a:pPr>
            <a:r>
              <a:rPr lang="en-US" sz="1000">
                <a:solidFill>
                  <a:srgbClr val="E76F37"/>
                </a:solidFill>
                <a:latin typeface="Calibri"/>
                <a:ea typeface="Calibri"/>
                <a:cs typeface="Calibri"/>
                <a:sym typeface="Calibri"/>
              </a:rPr>
              <a:t>UI/UX Designer</a:t>
            </a:r>
            <a:endParaRPr sz="1000">
              <a:solidFill>
                <a:srgbClr val="E76F37"/>
              </a:solidFill>
              <a:latin typeface="Calibri"/>
              <a:ea typeface="Calibri"/>
              <a:cs typeface="Calibri"/>
              <a:sym typeface="Calibri"/>
            </a:endParaRPr>
          </a:p>
          <a:p>
            <a:pPr marL="0" lvl="0" indent="0" algn="l" rtl="0">
              <a:spcBef>
                <a:spcPts val="0"/>
              </a:spcBef>
              <a:spcAft>
                <a:spcPts val="0"/>
              </a:spcAft>
              <a:buClr>
                <a:schemeClr val="lt1"/>
              </a:buClr>
              <a:buSzPts val="1100"/>
              <a:buFont typeface="Calibri"/>
              <a:buNone/>
            </a:pPr>
            <a:r>
              <a:rPr lang="en-US" sz="1000">
                <a:solidFill>
                  <a:srgbClr val="E76F37"/>
                </a:solidFill>
                <a:latin typeface="Calibri"/>
                <a:ea typeface="Calibri"/>
                <a:cs typeface="Calibri"/>
                <a:sym typeface="Calibri"/>
              </a:rPr>
              <a:t>Database Engineer</a:t>
            </a:r>
            <a:endParaRPr sz="1000">
              <a:solidFill>
                <a:srgbClr val="E76F37"/>
              </a:solidFill>
              <a:latin typeface="Calibri"/>
              <a:ea typeface="Calibri"/>
              <a:cs typeface="Calibri"/>
              <a:sym typeface="Calibri"/>
            </a:endParaRPr>
          </a:p>
          <a:p>
            <a:pPr marL="0" lvl="0" indent="0" algn="l" rtl="0">
              <a:spcBef>
                <a:spcPts val="0"/>
              </a:spcBef>
              <a:spcAft>
                <a:spcPts val="0"/>
              </a:spcAft>
              <a:buClr>
                <a:schemeClr val="lt1"/>
              </a:buClr>
              <a:buSzPts val="1100"/>
              <a:buFont typeface="Calibri"/>
              <a:buNone/>
            </a:pPr>
            <a:endParaRPr sz="1000">
              <a:solidFill>
                <a:srgbClr val="E76F37"/>
              </a:solidFill>
              <a:latin typeface="Calibri"/>
              <a:ea typeface="Calibri"/>
              <a:cs typeface="Calibri"/>
              <a:sym typeface="Calibri"/>
            </a:endParaRPr>
          </a:p>
          <a:p>
            <a:pPr marL="0" marR="0" lvl="0" indent="0" algn="l" rtl="0">
              <a:spcBef>
                <a:spcPts val="0"/>
              </a:spcBef>
              <a:spcAft>
                <a:spcPts val="0"/>
              </a:spcAft>
              <a:buClr>
                <a:srgbClr val="FFFFFF"/>
              </a:buClr>
              <a:buSzPts val="1100"/>
              <a:buFont typeface="Calibri"/>
              <a:buNone/>
            </a:pPr>
            <a:endParaRPr sz="1100" b="1">
              <a:solidFill>
                <a:srgbClr val="FFFFFF"/>
              </a:solidFill>
              <a:latin typeface="Calibri"/>
              <a:ea typeface="Calibri"/>
              <a:cs typeface="Calibri"/>
              <a:sym typeface="Calibri"/>
            </a:endParaRPr>
          </a:p>
          <a:p>
            <a:pPr marL="0" marR="0" lvl="0" indent="0" algn="l" rtl="0">
              <a:spcBef>
                <a:spcPts val="0"/>
              </a:spcBef>
              <a:spcAft>
                <a:spcPts val="0"/>
              </a:spcAft>
              <a:buClr>
                <a:srgbClr val="FFFFFF"/>
              </a:buClr>
              <a:buSzPts val="1100"/>
              <a:buFont typeface="Calibri"/>
              <a:buNone/>
            </a:pPr>
            <a:endParaRPr sz="1100" b="1">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Shape 31"/>
        <p:cNvGrpSpPr/>
        <p:nvPr/>
      </p:nvGrpSpPr>
      <p:grpSpPr>
        <a:xfrm>
          <a:off x="0" y="0"/>
          <a:ext cx="0" cy="0"/>
          <a:chOff x="0" y="0"/>
          <a:chExt cx="0" cy="0"/>
        </a:xfrm>
      </p:grpSpPr>
      <p:sp>
        <p:nvSpPr>
          <p:cNvPr id="32" name="Google Shape;32;p2"/>
          <p:cNvSpPr/>
          <p:nvPr/>
        </p:nvSpPr>
        <p:spPr>
          <a:xfrm>
            <a:off x="0" y="0"/>
            <a:ext cx="9144000" cy="777240"/>
          </a:xfrm>
          <a:prstGeom prst="rect">
            <a:avLst/>
          </a:prstGeom>
          <a:solidFill>
            <a:srgbClr val="1A2332"/>
          </a:solidFill>
          <a:ln w="12700" cap="flat" cmpd="sng">
            <a:solidFill>
              <a:srgbClr val="1A23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02</a:t>
            </a:r>
            <a:endParaRPr sz="2800" b="0" i="0" u="none" strike="noStrike" cap="none">
              <a:solidFill>
                <a:schemeClr val="dk1"/>
              </a:solidFill>
              <a:latin typeface="Calibri"/>
              <a:ea typeface="Calibri"/>
              <a:cs typeface="Calibri"/>
              <a:sym typeface="Calibri"/>
            </a:endParaRPr>
          </a:p>
        </p:txBody>
      </p:sp>
      <p:sp>
        <p:nvSpPr>
          <p:cNvPr id="35" name="Google Shape;35;p2"/>
          <p:cNvSpPr/>
          <p:nvPr/>
        </p:nvSpPr>
        <p:spPr>
          <a:xfrm>
            <a:off x="365760" y="137160"/>
            <a:ext cx="6400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Introduction</a:t>
            </a:r>
            <a:endParaRPr sz="2600" b="0" i="0" u="none" strike="noStrike" cap="none">
              <a:solidFill>
                <a:schemeClr val="dk1"/>
              </a:solidFill>
              <a:latin typeface="Calibri"/>
              <a:ea typeface="Calibri"/>
              <a:cs typeface="Calibri"/>
              <a:sym typeface="Calibri"/>
            </a:endParaRPr>
          </a:p>
        </p:txBody>
      </p:sp>
      <p:sp>
        <p:nvSpPr>
          <p:cNvPr id="36" name="Google Shape;36;p2"/>
          <p:cNvSpPr/>
          <p:nvPr/>
        </p:nvSpPr>
        <p:spPr>
          <a:xfrm>
            <a:off x="457200" y="1005840"/>
            <a:ext cx="5303520" cy="1280160"/>
          </a:xfrm>
          <a:prstGeom prst="rect">
            <a:avLst/>
          </a:prstGeom>
          <a:noFill/>
          <a:ln>
            <a:noFill/>
          </a:ln>
        </p:spPr>
        <p:txBody>
          <a:bodyPr spcFirstLastPara="1" wrap="square" lIns="0" tIns="0" rIns="0" bIns="0" anchor="ctr" anchorCtr="0">
            <a:noAutofit/>
          </a:bodyPr>
          <a:lstStyle/>
          <a:p>
            <a:pPr marL="0" marR="0" lvl="0" indent="0" algn="just" rtl="0">
              <a:spcBef>
                <a:spcPts val="0"/>
              </a:spcBef>
              <a:spcAft>
                <a:spcPts val="0"/>
              </a:spcAft>
              <a:buClr>
                <a:srgbClr val="64748B"/>
              </a:buClr>
              <a:buSzPts val="1300"/>
              <a:buFont typeface="Calibri"/>
              <a:buNone/>
            </a:pPr>
            <a:r>
              <a:rPr lang="en-US" sz="1300" b="0" i="0" u="none" strike="noStrike" cap="none" dirty="0" err="1">
                <a:solidFill>
                  <a:srgbClr val="64748B"/>
                </a:solidFill>
                <a:latin typeface="Calibri"/>
                <a:ea typeface="Calibri"/>
                <a:cs typeface="Calibri"/>
                <a:sym typeface="Calibri"/>
              </a:rPr>
              <a:t>ForkLine</a:t>
            </a:r>
            <a:r>
              <a:rPr lang="en-US" sz="1300" b="0" i="0" u="none" strike="noStrike" cap="none" dirty="0">
                <a:solidFill>
                  <a:srgbClr val="64748B"/>
                </a:solidFill>
                <a:latin typeface="Calibri"/>
                <a:ea typeface="Calibri"/>
                <a:cs typeface="Calibri"/>
                <a:sym typeface="Calibri"/>
              </a:rPr>
              <a:t> is a comprehensive, AI-prompt-generated full stack web application designed to modernize restaurant operations. Built entirely using conversational AI prompts with Claude AI, it demonstrates how modern software can be created through intelligent prompt engineering without writing a single line of code manually.</a:t>
            </a:r>
            <a:endParaRPr sz="1300" b="0" i="0" u="none" strike="noStrike" cap="none" dirty="0">
              <a:solidFill>
                <a:schemeClr val="dk1"/>
              </a:solidFill>
              <a:latin typeface="Calibri"/>
              <a:ea typeface="Calibri"/>
              <a:cs typeface="Calibri"/>
              <a:sym typeface="Calibri"/>
            </a:endParaRPr>
          </a:p>
        </p:txBody>
      </p:sp>
      <p:sp>
        <p:nvSpPr>
          <p:cNvPr id="37" name="Google Shape;37;p2"/>
          <p:cNvSpPr/>
          <p:nvPr/>
        </p:nvSpPr>
        <p:spPr>
          <a:xfrm>
            <a:off x="347472" y="2423160"/>
            <a:ext cx="2743200" cy="22860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47472" y="2423160"/>
            <a:ext cx="2743200" cy="73152"/>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47472" y="2578608"/>
            <a:ext cx="27432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200"/>
              <a:buFont typeface="Calibri"/>
              <a:buNone/>
            </a:pPr>
            <a:r>
              <a:rPr lang="en-US" sz="3200" b="0" i="0" u="none" strike="noStrike" cap="none">
                <a:solidFill>
                  <a:srgbClr val="000000"/>
                </a:solidFill>
                <a:latin typeface="Calibri"/>
                <a:ea typeface="Calibri"/>
                <a:cs typeface="Calibri"/>
                <a:sym typeface="Calibri"/>
              </a:rPr>
              <a:t>🤖</a:t>
            </a:r>
            <a:endParaRPr sz="3200" b="0" i="0" u="none" strike="noStrike" cap="none">
              <a:solidFill>
                <a:schemeClr val="dk1"/>
              </a:solidFill>
              <a:latin typeface="Calibri"/>
              <a:ea typeface="Calibri"/>
              <a:cs typeface="Calibri"/>
              <a:sym typeface="Calibri"/>
            </a:endParaRPr>
          </a:p>
        </p:txBody>
      </p:sp>
      <p:sp>
        <p:nvSpPr>
          <p:cNvPr id="40" name="Google Shape;40;p2"/>
          <p:cNvSpPr/>
          <p:nvPr/>
        </p:nvSpPr>
        <p:spPr>
          <a:xfrm>
            <a:off x="484632" y="3255264"/>
            <a:ext cx="24688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2332"/>
              </a:buClr>
              <a:buSzPts val="1400"/>
              <a:buFont typeface="Georgia"/>
              <a:buNone/>
            </a:pPr>
            <a:r>
              <a:rPr lang="en-US" sz="1400" b="1" i="0" u="none" strike="noStrike" cap="none">
                <a:solidFill>
                  <a:srgbClr val="1A2332"/>
                </a:solidFill>
                <a:latin typeface="Georgia"/>
                <a:ea typeface="Georgia"/>
                <a:cs typeface="Georgia"/>
                <a:sym typeface="Georgia"/>
              </a:rPr>
              <a:t>AI-Generated</a:t>
            </a:r>
            <a:endParaRPr sz="1400" b="0" i="0" u="none" strike="noStrike" cap="none">
              <a:solidFill>
                <a:schemeClr val="dk1"/>
              </a:solidFill>
              <a:latin typeface="Calibri"/>
              <a:ea typeface="Calibri"/>
              <a:cs typeface="Calibri"/>
              <a:sym typeface="Calibri"/>
            </a:endParaRPr>
          </a:p>
        </p:txBody>
      </p:sp>
      <p:sp>
        <p:nvSpPr>
          <p:cNvPr id="41" name="Google Shape;41;p2"/>
          <p:cNvSpPr/>
          <p:nvPr/>
        </p:nvSpPr>
        <p:spPr>
          <a:xfrm>
            <a:off x="484632" y="3657600"/>
            <a:ext cx="246888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100% built using Claude AI prompts — no manual coding</a:t>
            </a:r>
            <a:endParaRPr sz="1100" b="0" i="0" u="none" strike="noStrike" cap="none">
              <a:solidFill>
                <a:schemeClr val="dk1"/>
              </a:solidFill>
              <a:latin typeface="Calibri"/>
              <a:ea typeface="Calibri"/>
              <a:cs typeface="Calibri"/>
              <a:sym typeface="Calibri"/>
            </a:endParaRPr>
          </a:p>
        </p:txBody>
      </p:sp>
      <p:sp>
        <p:nvSpPr>
          <p:cNvPr id="42" name="Google Shape;42;p2"/>
          <p:cNvSpPr/>
          <p:nvPr/>
        </p:nvSpPr>
        <p:spPr>
          <a:xfrm>
            <a:off x="3255264" y="2423160"/>
            <a:ext cx="2743200" cy="22860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3255264" y="2423160"/>
            <a:ext cx="2743200" cy="73152"/>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3255264" y="2578608"/>
            <a:ext cx="27432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200"/>
              <a:buFont typeface="Calibri"/>
              <a:buNone/>
            </a:pPr>
            <a:r>
              <a:rPr lang="en-US" sz="3200" b="0" i="0" u="none" strike="noStrike" cap="none">
                <a:solidFill>
                  <a:srgbClr val="000000"/>
                </a:solidFill>
                <a:latin typeface="Calibri"/>
                <a:ea typeface="Calibri"/>
                <a:cs typeface="Calibri"/>
                <a:sym typeface="Calibri"/>
              </a:rPr>
              <a:t>🌐</a:t>
            </a:r>
            <a:endParaRPr sz="3200" b="0" i="0" u="none" strike="noStrike" cap="none">
              <a:solidFill>
                <a:schemeClr val="dk1"/>
              </a:solidFill>
              <a:latin typeface="Calibri"/>
              <a:ea typeface="Calibri"/>
              <a:cs typeface="Calibri"/>
              <a:sym typeface="Calibri"/>
            </a:endParaRPr>
          </a:p>
        </p:txBody>
      </p:sp>
      <p:sp>
        <p:nvSpPr>
          <p:cNvPr id="45" name="Google Shape;45;p2"/>
          <p:cNvSpPr/>
          <p:nvPr/>
        </p:nvSpPr>
        <p:spPr>
          <a:xfrm>
            <a:off x="3392424" y="3255264"/>
            <a:ext cx="24688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2332"/>
              </a:buClr>
              <a:buSzPts val="1400"/>
              <a:buFont typeface="Georgia"/>
              <a:buNone/>
            </a:pPr>
            <a:r>
              <a:rPr lang="en-US" sz="1400" b="1" i="0" u="none" strike="noStrike" cap="none">
                <a:solidFill>
                  <a:srgbClr val="1A2332"/>
                </a:solidFill>
                <a:latin typeface="Georgia"/>
                <a:ea typeface="Georgia"/>
                <a:cs typeface="Georgia"/>
                <a:sym typeface="Georgia"/>
              </a:rPr>
              <a:t>Full Stack</a:t>
            </a:r>
            <a:endParaRPr sz="1400" b="0" i="0" u="none" strike="noStrike" cap="none">
              <a:solidFill>
                <a:schemeClr val="dk1"/>
              </a:solidFill>
              <a:latin typeface="Calibri"/>
              <a:ea typeface="Calibri"/>
              <a:cs typeface="Calibri"/>
              <a:sym typeface="Calibri"/>
            </a:endParaRPr>
          </a:p>
        </p:txBody>
      </p:sp>
      <p:sp>
        <p:nvSpPr>
          <p:cNvPr id="46" name="Google Shape;46;p2"/>
          <p:cNvSpPr/>
          <p:nvPr/>
        </p:nvSpPr>
        <p:spPr>
          <a:xfrm>
            <a:off x="3392424" y="3657600"/>
            <a:ext cx="246888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Express.js + MongoDB + EJS with session authentication</a:t>
            </a:r>
            <a:endParaRPr sz="1100" b="0" i="0" u="none" strike="noStrike" cap="none">
              <a:solidFill>
                <a:schemeClr val="dk1"/>
              </a:solidFill>
              <a:latin typeface="Calibri"/>
              <a:ea typeface="Calibri"/>
              <a:cs typeface="Calibri"/>
              <a:sym typeface="Calibri"/>
            </a:endParaRPr>
          </a:p>
        </p:txBody>
      </p:sp>
      <p:sp>
        <p:nvSpPr>
          <p:cNvPr id="47" name="Google Shape;47;p2"/>
          <p:cNvSpPr/>
          <p:nvPr/>
        </p:nvSpPr>
        <p:spPr>
          <a:xfrm>
            <a:off x="6163056" y="2423160"/>
            <a:ext cx="2743200" cy="22860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163056" y="2423160"/>
            <a:ext cx="2743200" cy="73152"/>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163056" y="2578608"/>
            <a:ext cx="27432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200"/>
              <a:buFont typeface="Calibri"/>
              <a:buNone/>
            </a:pPr>
            <a:r>
              <a:rPr lang="en-US" sz="3200" b="0" i="0" u="none" strike="noStrike" cap="none">
                <a:solidFill>
                  <a:srgbClr val="000000"/>
                </a:solidFill>
                <a:latin typeface="Calibri"/>
                <a:ea typeface="Calibri"/>
                <a:cs typeface="Calibri"/>
                <a:sym typeface="Calibri"/>
              </a:rPr>
              <a:t>📱</a:t>
            </a:r>
            <a:endParaRPr sz="3200" b="0" i="0" u="none" strike="noStrike" cap="none">
              <a:solidFill>
                <a:schemeClr val="dk1"/>
              </a:solidFill>
              <a:latin typeface="Calibri"/>
              <a:ea typeface="Calibri"/>
              <a:cs typeface="Calibri"/>
              <a:sym typeface="Calibri"/>
            </a:endParaRPr>
          </a:p>
        </p:txBody>
      </p:sp>
      <p:sp>
        <p:nvSpPr>
          <p:cNvPr id="50" name="Google Shape;50;p2"/>
          <p:cNvSpPr/>
          <p:nvPr/>
        </p:nvSpPr>
        <p:spPr>
          <a:xfrm>
            <a:off x="6300216" y="3255264"/>
            <a:ext cx="246888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2332"/>
              </a:buClr>
              <a:buSzPts val="1400"/>
              <a:buFont typeface="Georgia"/>
              <a:buNone/>
            </a:pPr>
            <a:r>
              <a:rPr lang="en-US" sz="1400" b="1" i="0" u="none" strike="noStrike" cap="none">
                <a:solidFill>
                  <a:srgbClr val="1A2332"/>
                </a:solidFill>
                <a:latin typeface="Georgia"/>
                <a:ea typeface="Georgia"/>
                <a:cs typeface="Georgia"/>
                <a:sym typeface="Georgia"/>
              </a:rPr>
              <a:t>Responsive</a:t>
            </a:r>
            <a:endParaRPr sz="1400" b="0" i="0" u="none" strike="noStrike" cap="none">
              <a:solidFill>
                <a:schemeClr val="dk1"/>
              </a:solidFill>
              <a:latin typeface="Calibri"/>
              <a:ea typeface="Calibri"/>
              <a:cs typeface="Calibri"/>
              <a:sym typeface="Calibri"/>
            </a:endParaRPr>
          </a:p>
        </p:txBody>
      </p:sp>
      <p:sp>
        <p:nvSpPr>
          <p:cNvPr id="51" name="Google Shape;51;p2"/>
          <p:cNvSpPr/>
          <p:nvPr/>
        </p:nvSpPr>
        <p:spPr>
          <a:xfrm>
            <a:off x="6300216" y="3657600"/>
            <a:ext cx="246888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Works on desktop, tablet and mobile devices</a:t>
            </a:r>
            <a:endParaRPr sz="1100" b="0" i="0" u="none" strike="noStrike" cap="none">
              <a:solidFill>
                <a:schemeClr val="dk1"/>
              </a:solidFill>
              <a:latin typeface="Calibri"/>
              <a:ea typeface="Calibri"/>
              <a:cs typeface="Calibri"/>
              <a:sym typeface="Calibri"/>
            </a:endParaRPr>
          </a:p>
        </p:txBody>
      </p:sp>
      <p:sp>
        <p:nvSpPr>
          <p:cNvPr id="52" name="Google Shape;52;p2"/>
          <p:cNvSpPr/>
          <p:nvPr/>
        </p:nvSpPr>
        <p:spPr>
          <a:xfrm>
            <a:off x="6035040" y="960120"/>
            <a:ext cx="2834640" cy="1371600"/>
          </a:xfrm>
          <a:prstGeom prst="rect">
            <a:avLst/>
          </a:prstGeom>
          <a:solidFill>
            <a:srgbClr val="1A2332"/>
          </a:solidFill>
          <a:ln w="12700"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126480" y="1024128"/>
            <a:ext cx="26517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76F37"/>
              </a:buClr>
              <a:buSzPts val="1100"/>
              <a:buFont typeface="Calibri"/>
              <a:buNone/>
            </a:pPr>
            <a:r>
              <a:rPr lang="en-US" sz="1100" b="1" i="0" u="none" strike="noStrike" cap="none">
                <a:solidFill>
                  <a:srgbClr val="E76F37"/>
                </a:solidFill>
                <a:latin typeface="Calibri"/>
                <a:ea typeface="Calibri"/>
                <a:cs typeface="Calibri"/>
                <a:sym typeface="Calibri"/>
              </a:rPr>
              <a:t>Built With Claude AI</a:t>
            </a:r>
            <a:endParaRPr sz="1100" b="0" i="0" u="none" strike="noStrike" cap="none">
              <a:solidFill>
                <a:schemeClr val="dk1"/>
              </a:solidFill>
              <a:latin typeface="Calibri"/>
              <a:ea typeface="Calibri"/>
              <a:cs typeface="Calibri"/>
              <a:sym typeface="Calibri"/>
            </a:endParaRPr>
          </a:p>
        </p:txBody>
      </p:sp>
      <p:sp>
        <p:nvSpPr>
          <p:cNvPr id="54" name="Google Shape;54;p2"/>
          <p:cNvSpPr/>
          <p:nvPr/>
        </p:nvSpPr>
        <p:spPr>
          <a:xfrm>
            <a:off x="6126480" y="1371600"/>
            <a:ext cx="265176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Prompts Used: </a:t>
            </a:r>
            <a:r>
              <a:rPr lang="en-US" sz="1400" b="1" i="0" u="none" strike="noStrike" cap="none">
                <a:solidFill>
                  <a:srgbClr val="E76F37"/>
                </a:solidFill>
                <a:latin typeface="Calibri"/>
                <a:ea typeface="Calibri"/>
                <a:cs typeface="Calibri"/>
                <a:sym typeface="Calibri"/>
              </a:rPr>
              <a:t>12+</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Files Generated: </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E76F37"/>
              </a:buClr>
              <a:buSzPts val="1400"/>
              <a:buFont typeface="Calibri"/>
              <a:buNone/>
            </a:pPr>
            <a:r>
              <a:rPr lang="en-US" sz="1400" b="1" i="0" u="none" strike="noStrike" cap="none">
                <a:solidFill>
                  <a:srgbClr val="E76F37"/>
                </a:solidFill>
                <a:latin typeface="Calibri"/>
                <a:ea typeface="Calibri"/>
                <a:cs typeface="Calibri"/>
                <a:sym typeface="Calibri"/>
              </a:rPr>
              <a:t>44</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Lines of Code: </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E76F37"/>
              </a:buClr>
              <a:buSzPts val="1400"/>
              <a:buFont typeface="Calibri"/>
              <a:buNone/>
            </a:pPr>
            <a:r>
              <a:rPr lang="en-US" sz="1400" b="1" i="0" u="none" strike="noStrike" cap="none">
                <a:solidFill>
                  <a:srgbClr val="E76F37"/>
                </a:solidFill>
                <a:latin typeface="Calibri"/>
                <a:ea typeface="Calibri"/>
                <a:cs typeface="Calibri"/>
                <a:sym typeface="Calibri"/>
              </a:rPr>
              <a:t>3,500+</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Shape 59"/>
        <p:cNvGrpSpPr/>
        <p:nvPr/>
      </p:nvGrpSpPr>
      <p:grpSpPr>
        <a:xfrm>
          <a:off x="0" y="0"/>
          <a:ext cx="0" cy="0"/>
          <a:chOff x="0" y="0"/>
          <a:chExt cx="0" cy="0"/>
        </a:xfrm>
      </p:grpSpPr>
      <p:sp>
        <p:nvSpPr>
          <p:cNvPr id="60" name="Google Shape;60;p3"/>
          <p:cNvSpPr/>
          <p:nvPr/>
        </p:nvSpPr>
        <p:spPr>
          <a:xfrm>
            <a:off x="0" y="0"/>
            <a:ext cx="9144000" cy="777240"/>
          </a:xfrm>
          <a:prstGeom prst="rect">
            <a:avLst/>
          </a:prstGeom>
          <a:solidFill>
            <a:srgbClr val="2C3E50"/>
          </a:solidFill>
          <a:ln w="12700" cap="flat" cmpd="sng">
            <a:solidFill>
              <a:srgbClr val="2C3E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03</a:t>
            </a:r>
            <a:endParaRPr sz="2800" b="0" i="0" u="none" strike="noStrike" cap="none">
              <a:solidFill>
                <a:schemeClr val="dk1"/>
              </a:solidFill>
              <a:latin typeface="Calibri"/>
              <a:ea typeface="Calibri"/>
              <a:cs typeface="Calibri"/>
              <a:sym typeface="Calibri"/>
            </a:endParaRPr>
          </a:p>
        </p:txBody>
      </p:sp>
      <p:sp>
        <p:nvSpPr>
          <p:cNvPr id="63" name="Google Shape;63;p3"/>
          <p:cNvSpPr/>
          <p:nvPr/>
        </p:nvSpPr>
        <p:spPr>
          <a:xfrm>
            <a:off x="365760" y="137160"/>
            <a:ext cx="6400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Objectives</a:t>
            </a:r>
            <a:endParaRPr sz="2600" b="0" i="0" u="none" strike="noStrike" cap="none">
              <a:solidFill>
                <a:schemeClr val="dk1"/>
              </a:solidFill>
              <a:latin typeface="Calibri"/>
              <a:ea typeface="Calibri"/>
              <a:cs typeface="Calibri"/>
              <a:sym typeface="Calibri"/>
            </a:endParaRPr>
          </a:p>
        </p:txBody>
      </p:sp>
      <p:sp>
        <p:nvSpPr>
          <p:cNvPr id="64" name="Google Shape;64;p3"/>
          <p:cNvSpPr/>
          <p:nvPr/>
        </p:nvSpPr>
        <p:spPr>
          <a:xfrm>
            <a:off x="274320" y="1005840"/>
            <a:ext cx="4251960" cy="114300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274320" y="1005840"/>
            <a:ext cx="64008" cy="11430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411480" y="1078992"/>
            <a:ext cx="502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2200"/>
              <a:buFont typeface="Georgia"/>
              <a:buNone/>
            </a:pPr>
            <a:r>
              <a:rPr lang="en-US" sz="2200" b="1" i="0" u="none" strike="noStrike" cap="none">
                <a:solidFill>
                  <a:srgbClr val="E76F37"/>
                </a:solidFill>
                <a:latin typeface="Georgia"/>
                <a:ea typeface="Georgia"/>
                <a:cs typeface="Georgia"/>
                <a:sym typeface="Georgia"/>
              </a:rPr>
              <a:t>01</a:t>
            </a:r>
            <a:endParaRPr sz="2200" b="0" i="0" u="none" strike="noStrike" cap="none">
              <a:solidFill>
                <a:schemeClr val="dk1"/>
              </a:solidFill>
              <a:latin typeface="Calibri"/>
              <a:ea typeface="Calibri"/>
              <a:cs typeface="Calibri"/>
              <a:sym typeface="Calibri"/>
            </a:endParaRPr>
          </a:p>
        </p:txBody>
      </p:sp>
      <p:sp>
        <p:nvSpPr>
          <p:cNvPr id="67" name="Google Shape;67;p3"/>
          <p:cNvSpPr/>
          <p:nvPr/>
        </p:nvSpPr>
        <p:spPr>
          <a:xfrm>
            <a:off x="411480" y="1463040"/>
            <a:ext cx="393192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Demonstrate the power of AI prompt engineering to build real-world production applications</a:t>
            </a:r>
            <a:endParaRPr sz="1100" b="0" i="0" u="none" strike="noStrike" cap="none">
              <a:solidFill>
                <a:schemeClr val="dk1"/>
              </a:solidFill>
              <a:latin typeface="Calibri"/>
              <a:ea typeface="Calibri"/>
              <a:cs typeface="Calibri"/>
              <a:sym typeface="Calibri"/>
            </a:endParaRPr>
          </a:p>
        </p:txBody>
      </p:sp>
      <p:sp>
        <p:nvSpPr>
          <p:cNvPr id="68" name="Google Shape;68;p3"/>
          <p:cNvSpPr/>
          <p:nvPr/>
        </p:nvSpPr>
        <p:spPr>
          <a:xfrm>
            <a:off x="4846320" y="1005840"/>
            <a:ext cx="4251960" cy="114300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4846320" y="1005840"/>
            <a:ext cx="64008" cy="11430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4983480" y="1078992"/>
            <a:ext cx="502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2200"/>
              <a:buFont typeface="Georgia"/>
              <a:buNone/>
            </a:pPr>
            <a:r>
              <a:rPr lang="en-US" sz="2200" b="1" i="0" u="none" strike="noStrike" cap="none">
                <a:solidFill>
                  <a:srgbClr val="E76F37"/>
                </a:solidFill>
                <a:latin typeface="Georgia"/>
                <a:ea typeface="Georgia"/>
                <a:cs typeface="Georgia"/>
                <a:sym typeface="Georgia"/>
              </a:rPr>
              <a:t>02</a:t>
            </a:r>
            <a:endParaRPr sz="2200" b="0" i="0" u="none" strike="noStrike" cap="none">
              <a:solidFill>
                <a:schemeClr val="dk1"/>
              </a:solidFill>
              <a:latin typeface="Calibri"/>
              <a:ea typeface="Calibri"/>
              <a:cs typeface="Calibri"/>
              <a:sym typeface="Calibri"/>
            </a:endParaRPr>
          </a:p>
        </p:txBody>
      </p:sp>
      <p:sp>
        <p:nvSpPr>
          <p:cNvPr id="71" name="Google Shape;71;p3"/>
          <p:cNvSpPr/>
          <p:nvPr/>
        </p:nvSpPr>
        <p:spPr>
          <a:xfrm>
            <a:off x="4983480" y="1463040"/>
            <a:ext cx="393192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Build a secure, role-based restaurant management system with Admin and Customer roles</a:t>
            </a:r>
            <a:endParaRPr sz="1100" b="0" i="0" u="none" strike="noStrike" cap="none">
              <a:solidFill>
                <a:schemeClr val="dk1"/>
              </a:solidFill>
              <a:latin typeface="Calibri"/>
              <a:ea typeface="Calibri"/>
              <a:cs typeface="Calibri"/>
              <a:sym typeface="Calibri"/>
            </a:endParaRPr>
          </a:p>
        </p:txBody>
      </p:sp>
      <p:sp>
        <p:nvSpPr>
          <p:cNvPr id="72" name="Google Shape;72;p3"/>
          <p:cNvSpPr/>
          <p:nvPr/>
        </p:nvSpPr>
        <p:spPr>
          <a:xfrm>
            <a:off x="274320" y="2304288"/>
            <a:ext cx="4251960" cy="114300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274320" y="2304288"/>
            <a:ext cx="64008" cy="11430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411480" y="2377440"/>
            <a:ext cx="502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2200"/>
              <a:buFont typeface="Georgia"/>
              <a:buNone/>
            </a:pPr>
            <a:r>
              <a:rPr lang="en-US" sz="2200" b="1" i="0" u="none" strike="noStrike" cap="none">
                <a:solidFill>
                  <a:srgbClr val="E76F37"/>
                </a:solidFill>
                <a:latin typeface="Georgia"/>
                <a:ea typeface="Georgia"/>
                <a:cs typeface="Georgia"/>
                <a:sym typeface="Georgia"/>
              </a:rPr>
              <a:t>03</a:t>
            </a:r>
            <a:endParaRPr sz="2200" b="0" i="0" u="none" strike="noStrike" cap="none">
              <a:solidFill>
                <a:schemeClr val="dk1"/>
              </a:solidFill>
              <a:latin typeface="Calibri"/>
              <a:ea typeface="Calibri"/>
              <a:cs typeface="Calibri"/>
              <a:sym typeface="Calibri"/>
            </a:endParaRPr>
          </a:p>
        </p:txBody>
      </p:sp>
      <p:sp>
        <p:nvSpPr>
          <p:cNvPr id="75" name="Google Shape;75;p3"/>
          <p:cNvSpPr/>
          <p:nvPr/>
        </p:nvSpPr>
        <p:spPr>
          <a:xfrm>
            <a:off x="411480" y="2761488"/>
            <a:ext cx="393192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Implement full CRUD operations for food menu, orders, and user management</a:t>
            </a:r>
            <a:endParaRPr sz="1100" b="0" i="0" u="none" strike="noStrike" cap="none">
              <a:solidFill>
                <a:schemeClr val="dk1"/>
              </a:solidFill>
              <a:latin typeface="Calibri"/>
              <a:ea typeface="Calibri"/>
              <a:cs typeface="Calibri"/>
              <a:sym typeface="Calibri"/>
            </a:endParaRPr>
          </a:p>
        </p:txBody>
      </p:sp>
      <p:sp>
        <p:nvSpPr>
          <p:cNvPr id="76" name="Google Shape;76;p3"/>
          <p:cNvSpPr/>
          <p:nvPr/>
        </p:nvSpPr>
        <p:spPr>
          <a:xfrm>
            <a:off x="4846320" y="2304288"/>
            <a:ext cx="4251960" cy="114300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4846320" y="2304288"/>
            <a:ext cx="64008" cy="11430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4983480" y="2377440"/>
            <a:ext cx="502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2200"/>
              <a:buFont typeface="Georgia"/>
              <a:buNone/>
            </a:pPr>
            <a:r>
              <a:rPr lang="en-US" sz="2200" b="1" i="0" u="none" strike="noStrike" cap="none">
                <a:solidFill>
                  <a:srgbClr val="E76F37"/>
                </a:solidFill>
                <a:latin typeface="Georgia"/>
                <a:ea typeface="Georgia"/>
                <a:cs typeface="Georgia"/>
                <a:sym typeface="Georgia"/>
              </a:rPr>
              <a:t>04</a:t>
            </a:r>
            <a:endParaRPr sz="2200" b="0" i="0" u="none" strike="noStrike" cap="none">
              <a:solidFill>
                <a:schemeClr val="dk1"/>
              </a:solidFill>
              <a:latin typeface="Calibri"/>
              <a:ea typeface="Calibri"/>
              <a:cs typeface="Calibri"/>
              <a:sym typeface="Calibri"/>
            </a:endParaRPr>
          </a:p>
        </p:txBody>
      </p:sp>
      <p:sp>
        <p:nvSpPr>
          <p:cNvPr id="79" name="Google Shape;79;p3"/>
          <p:cNvSpPr/>
          <p:nvPr/>
        </p:nvSpPr>
        <p:spPr>
          <a:xfrm>
            <a:off x="4983480" y="2761488"/>
            <a:ext cx="393192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Provide interactive dashboards with real-time charts using Chart.js</a:t>
            </a:r>
            <a:endParaRPr sz="1100" b="0" i="0" u="none" strike="noStrike" cap="none">
              <a:solidFill>
                <a:schemeClr val="dk1"/>
              </a:solidFill>
              <a:latin typeface="Calibri"/>
              <a:ea typeface="Calibri"/>
              <a:cs typeface="Calibri"/>
              <a:sym typeface="Calibri"/>
            </a:endParaRPr>
          </a:p>
        </p:txBody>
      </p:sp>
      <p:sp>
        <p:nvSpPr>
          <p:cNvPr id="80" name="Google Shape;80;p3"/>
          <p:cNvSpPr/>
          <p:nvPr/>
        </p:nvSpPr>
        <p:spPr>
          <a:xfrm>
            <a:off x="274320" y="3602736"/>
            <a:ext cx="4251960" cy="114300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274320" y="3602736"/>
            <a:ext cx="64008" cy="11430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411480" y="3675888"/>
            <a:ext cx="502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2200"/>
              <a:buFont typeface="Georgia"/>
              <a:buNone/>
            </a:pPr>
            <a:r>
              <a:rPr lang="en-US" sz="2200" b="1" i="0" u="none" strike="noStrike" cap="none">
                <a:solidFill>
                  <a:srgbClr val="E76F37"/>
                </a:solidFill>
                <a:latin typeface="Georgia"/>
                <a:ea typeface="Georgia"/>
                <a:cs typeface="Georgia"/>
                <a:sym typeface="Georgia"/>
              </a:rPr>
              <a:t>05</a:t>
            </a:r>
            <a:endParaRPr sz="2200" b="0" i="0" u="none" strike="noStrike" cap="none">
              <a:solidFill>
                <a:schemeClr val="dk1"/>
              </a:solidFill>
              <a:latin typeface="Calibri"/>
              <a:ea typeface="Calibri"/>
              <a:cs typeface="Calibri"/>
              <a:sym typeface="Calibri"/>
            </a:endParaRPr>
          </a:p>
        </p:txBody>
      </p:sp>
      <p:sp>
        <p:nvSpPr>
          <p:cNvPr id="83" name="Google Shape;83;p3"/>
          <p:cNvSpPr/>
          <p:nvPr/>
        </p:nvSpPr>
        <p:spPr>
          <a:xfrm>
            <a:off x="411480" y="4059936"/>
            <a:ext cx="393192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Enable food image uploads, session-based auth, and order tracking</a:t>
            </a:r>
            <a:endParaRPr sz="1100" b="0" i="0" u="none" strike="noStrike" cap="none">
              <a:solidFill>
                <a:schemeClr val="dk1"/>
              </a:solidFill>
              <a:latin typeface="Calibri"/>
              <a:ea typeface="Calibri"/>
              <a:cs typeface="Calibri"/>
              <a:sym typeface="Calibri"/>
            </a:endParaRPr>
          </a:p>
        </p:txBody>
      </p:sp>
      <p:sp>
        <p:nvSpPr>
          <p:cNvPr id="84" name="Google Shape;84;p3"/>
          <p:cNvSpPr/>
          <p:nvPr/>
        </p:nvSpPr>
        <p:spPr>
          <a:xfrm>
            <a:off x="4846320" y="3602736"/>
            <a:ext cx="4251960" cy="114300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4846320" y="3602736"/>
            <a:ext cx="64008" cy="11430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4983480" y="3675888"/>
            <a:ext cx="502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2200"/>
              <a:buFont typeface="Georgia"/>
              <a:buNone/>
            </a:pPr>
            <a:r>
              <a:rPr lang="en-US" sz="2200" b="1" i="0" u="none" strike="noStrike" cap="none">
                <a:solidFill>
                  <a:srgbClr val="E76F37"/>
                </a:solidFill>
                <a:latin typeface="Georgia"/>
                <a:ea typeface="Georgia"/>
                <a:cs typeface="Georgia"/>
                <a:sym typeface="Georgia"/>
              </a:rPr>
              <a:t>06</a:t>
            </a:r>
            <a:endParaRPr sz="2200" b="0" i="0" u="none" strike="noStrike" cap="none">
              <a:solidFill>
                <a:schemeClr val="dk1"/>
              </a:solidFill>
              <a:latin typeface="Calibri"/>
              <a:ea typeface="Calibri"/>
              <a:cs typeface="Calibri"/>
              <a:sym typeface="Calibri"/>
            </a:endParaRPr>
          </a:p>
        </p:txBody>
      </p:sp>
      <p:sp>
        <p:nvSpPr>
          <p:cNvPr id="87" name="Google Shape;87;p3"/>
          <p:cNvSpPr/>
          <p:nvPr/>
        </p:nvSpPr>
        <p:spPr>
          <a:xfrm>
            <a:off x="4983480" y="4059936"/>
            <a:ext cx="393192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Deploy the application online for access from any device worldwide</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Shape 92"/>
        <p:cNvGrpSpPr/>
        <p:nvPr/>
      </p:nvGrpSpPr>
      <p:grpSpPr>
        <a:xfrm>
          <a:off x="0" y="0"/>
          <a:ext cx="0" cy="0"/>
          <a:chOff x="0" y="0"/>
          <a:chExt cx="0" cy="0"/>
        </a:xfrm>
      </p:grpSpPr>
      <p:sp>
        <p:nvSpPr>
          <p:cNvPr id="93" name="Google Shape;93;p4"/>
          <p:cNvSpPr/>
          <p:nvPr/>
        </p:nvSpPr>
        <p:spPr>
          <a:xfrm>
            <a:off x="0" y="0"/>
            <a:ext cx="9144000" cy="777240"/>
          </a:xfrm>
          <a:prstGeom prst="rect">
            <a:avLst/>
          </a:prstGeom>
          <a:solidFill>
            <a:srgbClr val="1A2332"/>
          </a:solidFill>
          <a:ln w="12700" cap="flat" cmpd="sng">
            <a:solidFill>
              <a:srgbClr val="1A23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04</a:t>
            </a:r>
            <a:endParaRPr sz="2800" b="0" i="0" u="none" strike="noStrike" cap="none">
              <a:solidFill>
                <a:schemeClr val="dk1"/>
              </a:solidFill>
              <a:latin typeface="Calibri"/>
              <a:ea typeface="Calibri"/>
              <a:cs typeface="Calibri"/>
              <a:sym typeface="Calibri"/>
            </a:endParaRPr>
          </a:p>
        </p:txBody>
      </p:sp>
      <p:sp>
        <p:nvSpPr>
          <p:cNvPr id="96" name="Google Shape;96;p4"/>
          <p:cNvSpPr/>
          <p:nvPr/>
        </p:nvSpPr>
        <p:spPr>
          <a:xfrm>
            <a:off x="365760" y="137160"/>
            <a:ext cx="6400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Stakeholders</a:t>
            </a:r>
            <a:endParaRPr sz="2600" b="0" i="0" u="none" strike="noStrike" cap="none">
              <a:solidFill>
                <a:schemeClr val="dk1"/>
              </a:solidFill>
              <a:latin typeface="Calibri"/>
              <a:ea typeface="Calibri"/>
              <a:cs typeface="Calibri"/>
              <a:sym typeface="Calibri"/>
            </a:endParaRPr>
          </a:p>
        </p:txBody>
      </p:sp>
      <p:sp>
        <p:nvSpPr>
          <p:cNvPr id="97" name="Google Shape;97;p4"/>
          <p:cNvSpPr/>
          <p:nvPr/>
        </p:nvSpPr>
        <p:spPr>
          <a:xfrm>
            <a:off x="274320" y="1005840"/>
            <a:ext cx="4160520" cy="18288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274320" y="1005840"/>
            <a:ext cx="416052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411480" y="1115568"/>
            <a:ext cx="50292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Calibri"/>
              <a:buNone/>
            </a:pPr>
            <a:r>
              <a:rPr lang="en-US" sz="2600" b="0" i="0" u="none" strike="noStrike" cap="none">
                <a:solidFill>
                  <a:srgbClr val="000000"/>
                </a:solidFill>
                <a:latin typeface="Calibri"/>
                <a:ea typeface="Calibri"/>
                <a:cs typeface="Calibri"/>
                <a:sym typeface="Calibri"/>
              </a:rPr>
              <a:t>👨‍💼</a:t>
            </a:r>
            <a:endParaRPr sz="2600" b="0" i="0" u="none" strike="noStrike" cap="none">
              <a:solidFill>
                <a:schemeClr val="dk1"/>
              </a:solidFill>
              <a:latin typeface="Calibri"/>
              <a:ea typeface="Calibri"/>
              <a:cs typeface="Calibri"/>
              <a:sym typeface="Calibri"/>
            </a:endParaRPr>
          </a:p>
        </p:txBody>
      </p:sp>
      <p:sp>
        <p:nvSpPr>
          <p:cNvPr id="100" name="Google Shape;100;p4"/>
          <p:cNvSpPr/>
          <p:nvPr/>
        </p:nvSpPr>
        <p:spPr>
          <a:xfrm>
            <a:off x="960120" y="1170432"/>
            <a:ext cx="3291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500"/>
              <a:buFont typeface="Georgia"/>
              <a:buNone/>
            </a:pPr>
            <a:r>
              <a:rPr lang="en-US" sz="1500" b="1" i="0" u="none" strike="noStrike" cap="none">
                <a:solidFill>
                  <a:srgbClr val="1A2332"/>
                </a:solidFill>
                <a:latin typeface="Georgia"/>
                <a:ea typeface="Georgia"/>
                <a:cs typeface="Georgia"/>
                <a:sym typeface="Georgia"/>
              </a:rPr>
              <a:t>Restaurant Admin</a:t>
            </a:r>
            <a:endParaRPr sz="1500" b="0" i="0" u="none" strike="noStrike" cap="none">
              <a:solidFill>
                <a:schemeClr val="dk1"/>
              </a:solidFill>
              <a:latin typeface="Calibri"/>
              <a:ea typeface="Calibri"/>
              <a:cs typeface="Calibri"/>
              <a:sym typeface="Calibri"/>
            </a:endParaRPr>
          </a:p>
        </p:txBody>
      </p:sp>
      <p:sp>
        <p:nvSpPr>
          <p:cNvPr id="101" name="Google Shape;101;p4"/>
          <p:cNvSpPr/>
          <p:nvPr/>
        </p:nvSpPr>
        <p:spPr>
          <a:xfrm>
            <a:off x="457200" y="1600200"/>
            <a:ext cx="3840480" cy="1143000"/>
          </a:xfrm>
          <a:prstGeom prst="rect">
            <a:avLst/>
          </a:prstGeom>
          <a:noFill/>
          <a:ln>
            <a:noFill/>
          </a:ln>
        </p:spPr>
        <p:txBody>
          <a:bodyPr spcFirstLastPara="1" wrap="square" lIns="0" tIns="0" rIns="0" bIns="0" anchor="ctr" anchorCtr="0">
            <a:noAutofit/>
          </a:bodyPr>
          <a:lstStyle/>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Manage full food menu</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View &amp; update all orders</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Manage user accounts</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View dashboard analytics</a:t>
            </a:r>
            <a:endParaRPr sz="1600" b="0" i="0" u="none" strike="noStrike" cap="none">
              <a:solidFill>
                <a:schemeClr val="dk1"/>
              </a:solidFill>
              <a:latin typeface="Calibri"/>
              <a:ea typeface="Calibri"/>
              <a:cs typeface="Calibri"/>
              <a:sym typeface="Calibri"/>
            </a:endParaRPr>
          </a:p>
        </p:txBody>
      </p:sp>
      <p:sp>
        <p:nvSpPr>
          <p:cNvPr id="102" name="Google Shape;102;p4"/>
          <p:cNvSpPr/>
          <p:nvPr/>
        </p:nvSpPr>
        <p:spPr>
          <a:xfrm>
            <a:off x="4709160" y="1005840"/>
            <a:ext cx="4160520" cy="18288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4709160" y="1005840"/>
            <a:ext cx="4160520" cy="64008"/>
          </a:xfrm>
          <a:prstGeom prst="rect">
            <a:avLst/>
          </a:prstGeom>
          <a:solidFill>
            <a:srgbClr val="3498DB"/>
          </a:solidFill>
          <a:ln w="12700" cap="flat" cmpd="sng">
            <a:solidFill>
              <a:srgbClr val="3498D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4846320" y="1115568"/>
            <a:ext cx="50292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Calibri"/>
              <a:buNone/>
            </a:pPr>
            <a:r>
              <a:rPr lang="en-US" sz="2600" b="0" i="0" u="none" strike="noStrike" cap="none">
                <a:solidFill>
                  <a:srgbClr val="000000"/>
                </a:solidFill>
                <a:latin typeface="Calibri"/>
                <a:ea typeface="Calibri"/>
                <a:cs typeface="Calibri"/>
                <a:sym typeface="Calibri"/>
              </a:rPr>
              <a:t>👤</a:t>
            </a:r>
            <a:endParaRPr sz="2600" b="0" i="0" u="none" strike="noStrike" cap="none">
              <a:solidFill>
                <a:schemeClr val="dk1"/>
              </a:solidFill>
              <a:latin typeface="Calibri"/>
              <a:ea typeface="Calibri"/>
              <a:cs typeface="Calibri"/>
              <a:sym typeface="Calibri"/>
            </a:endParaRPr>
          </a:p>
        </p:txBody>
      </p:sp>
      <p:sp>
        <p:nvSpPr>
          <p:cNvPr id="105" name="Google Shape;105;p4"/>
          <p:cNvSpPr/>
          <p:nvPr/>
        </p:nvSpPr>
        <p:spPr>
          <a:xfrm>
            <a:off x="5394960" y="1170432"/>
            <a:ext cx="3291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500"/>
              <a:buFont typeface="Georgia"/>
              <a:buNone/>
            </a:pPr>
            <a:r>
              <a:rPr lang="en-US" sz="1500" b="1" i="0" u="none" strike="noStrike" cap="none">
                <a:solidFill>
                  <a:srgbClr val="1A2332"/>
                </a:solidFill>
                <a:latin typeface="Georgia"/>
                <a:ea typeface="Georgia"/>
                <a:cs typeface="Georgia"/>
                <a:sym typeface="Georgia"/>
              </a:rPr>
              <a:t>Customer</a:t>
            </a:r>
            <a:endParaRPr sz="1500" b="0" i="0" u="none" strike="noStrike" cap="none">
              <a:solidFill>
                <a:schemeClr val="dk1"/>
              </a:solidFill>
              <a:latin typeface="Calibri"/>
              <a:ea typeface="Calibri"/>
              <a:cs typeface="Calibri"/>
              <a:sym typeface="Calibri"/>
            </a:endParaRPr>
          </a:p>
        </p:txBody>
      </p:sp>
      <p:sp>
        <p:nvSpPr>
          <p:cNvPr id="106" name="Google Shape;106;p4"/>
          <p:cNvSpPr/>
          <p:nvPr/>
        </p:nvSpPr>
        <p:spPr>
          <a:xfrm>
            <a:off x="4892040" y="1600200"/>
            <a:ext cx="3840480" cy="1143000"/>
          </a:xfrm>
          <a:prstGeom prst="rect">
            <a:avLst/>
          </a:prstGeom>
          <a:noFill/>
          <a:ln>
            <a:noFill/>
          </a:ln>
        </p:spPr>
        <p:txBody>
          <a:bodyPr spcFirstLastPara="1" wrap="square" lIns="0" tIns="0" rIns="0" bIns="0" anchor="ctr" anchorCtr="0">
            <a:noAutofit/>
          </a:bodyPr>
          <a:lstStyle/>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Browse available menu</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Add items to cart</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Place &amp; track orders</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View order history</a:t>
            </a:r>
            <a:endParaRPr sz="1600" b="0" i="0" u="none" strike="noStrike" cap="none">
              <a:solidFill>
                <a:schemeClr val="dk1"/>
              </a:solidFill>
              <a:latin typeface="Calibri"/>
              <a:ea typeface="Calibri"/>
              <a:cs typeface="Calibri"/>
              <a:sym typeface="Calibri"/>
            </a:endParaRPr>
          </a:p>
        </p:txBody>
      </p:sp>
      <p:sp>
        <p:nvSpPr>
          <p:cNvPr id="107" name="Google Shape;107;p4"/>
          <p:cNvSpPr/>
          <p:nvPr/>
        </p:nvSpPr>
        <p:spPr>
          <a:xfrm>
            <a:off x="274320" y="2999232"/>
            <a:ext cx="4160520" cy="18288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274320" y="2999232"/>
            <a:ext cx="4160520" cy="64008"/>
          </a:xfrm>
          <a:prstGeom prst="rect">
            <a:avLst/>
          </a:prstGeom>
          <a:solidFill>
            <a:srgbClr val="27AE60"/>
          </a:solidFill>
          <a:ln w="12700" cap="flat" cmpd="sng">
            <a:solidFill>
              <a:srgbClr val="27AE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411480" y="3108960"/>
            <a:ext cx="50292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Calibri"/>
              <a:buNone/>
            </a:pPr>
            <a:r>
              <a:rPr lang="en-US" sz="2600" b="0" i="0" u="none" strike="noStrike" cap="none">
                <a:solidFill>
                  <a:srgbClr val="000000"/>
                </a:solidFill>
                <a:latin typeface="Calibri"/>
                <a:ea typeface="Calibri"/>
                <a:cs typeface="Calibri"/>
                <a:sym typeface="Calibri"/>
              </a:rPr>
              <a:t>🏢</a:t>
            </a:r>
            <a:endParaRPr sz="2600" b="0" i="0" u="none" strike="noStrike" cap="none">
              <a:solidFill>
                <a:schemeClr val="dk1"/>
              </a:solidFill>
              <a:latin typeface="Calibri"/>
              <a:ea typeface="Calibri"/>
              <a:cs typeface="Calibri"/>
              <a:sym typeface="Calibri"/>
            </a:endParaRPr>
          </a:p>
        </p:txBody>
      </p:sp>
      <p:sp>
        <p:nvSpPr>
          <p:cNvPr id="110" name="Google Shape;110;p4"/>
          <p:cNvSpPr/>
          <p:nvPr/>
        </p:nvSpPr>
        <p:spPr>
          <a:xfrm>
            <a:off x="960120" y="3163824"/>
            <a:ext cx="3291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500"/>
              <a:buFont typeface="Georgia"/>
              <a:buNone/>
            </a:pPr>
            <a:r>
              <a:rPr lang="en-US" sz="1500" b="1" i="0" u="none" strike="noStrike" cap="none">
                <a:solidFill>
                  <a:srgbClr val="1A2332"/>
                </a:solidFill>
                <a:latin typeface="Georgia"/>
                <a:ea typeface="Georgia"/>
                <a:cs typeface="Georgia"/>
                <a:sym typeface="Georgia"/>
              </a:rPr>
              <a:t>Restaurant Owner</a:t>
            </a:r>
            <a:endParaRPr sz="1500" b="0" i="0" u="none" strike="noStrike" cap="none">
              <a:solidFill>
                <a:schemeClr val="dk1"/>
              </a:solidFill>
              <a:latin typeface="Calibri"/>
              <a:ea typeface="Calibri"/>
              <a:cs typeface="Calibri"/>
              <a:sym typeface="Calibri"/>
            </a:endParaRPr>
          </a:p>
        </p:txBody>
      </p:sp>
      <p:sp>
        <p:nvSpPr>
          <p:cNvPr id="111" name="Google Shape;111;p4"/>
          <p:cNvSpPr/>
          <p:nvPr/>
        </p:nvSpPr>
        <p:spPr>
          <a:xfrm>
            <a:off x="457200" y="3593592"/>
            <a:ext cx="3840480" cy="1143000"/>
          </a:xfrm>
          <a:prstGeom prst="rect">
            <a:avLst/>
          </a:prstGeom>
          <a:noFill/>
          <a:ln>
            <a:noFill/>
          </a:ln>
        </p:spPr>
        <p:txBody>
          <a:bodyPr spcFirstLastPara="1" wrap="square" lIns="0" tIns="0" rIns="0" bIns="0" anchor="ctr" anchorCtr="0">
            <a:noAutofit/>
          </a:bodyPr>
          <a:lstStyle/>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Monitor business KPIs</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View revenue charts</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Oversee operations</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Scale the system</a:t>
            </a:r>
            <a:endParaRPr sz="1600" b="0" i="0" u="none" strike="noStrike" cap="none">
              <a:solidFill>
                <a:schemeClr val="dk1"/>
              </a:solidFill>
              <a:latin typeface="Calibri"/>
              <a:ea typeface="Calibri"/>
              <a:cs typeface="Calibri"/>
              <a:sym typeface="Calibri"/>
            </a:endParaRPr>
          </a:p>
        </p:txBody>
      </p:sp>
      <p:sp>
        <p:nvSpPr>
          <p:cNvPr id="112" name="Google Shape;112;p4"/>
          <p:cNvSpPr/>
          <p:nvPr/>
        </p:nvSpPr>
        <p:spPr>
          <a:xfrm>
            <a:off x="4709160" y="2999232"/>
            <a:ext cx="4160520" cy="18288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4709160" y="2999232"/>
            <a:ext cx="4160520" cy="64008"/>
          </a:xfrm>
          <a:prstGeom prst="rect">
            <a:avLst/>
          </a:prstGeom>
          <a:solidFill>
            <a:srgbClr val="9B59B6"/>
          </a:solidFill>
          <a:ln w="12700" cap="flat" cmpd="sng">
            <a:solidFill>
              <a:srgbClr val="9B59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4846320" y="3108960"/>
            <a:ext cx="50292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Calibri"/>
              <a:buNone/>
            </a:pPr>
            <a:r>
              <a:rPr lang="en-US" sz="2600" b="0" i="0" u="none" strike="noStrike" cap="none">
                <a:solidFill>
                  <a:srgbClr val="000000"/>
                </a:solidFill>
                <a:latin typeface="Calibri"/>
                <a:ea typeface="Calibri"/>
                <a:cs typeface="Calibri"/>
                <a:sym typeface="Calibri"/>
              </a:rPr>
              <a:t>💻</a:t>
            </a:r>
            <a:endParaRPr sz="2600" b="0" i="0" u="none" strike="noStrike" cap="none">
              <a:solidFill>
                <a:schemeClr val="dk1"/>
              </a:solidFill>
              <a:latin typeface="Calibri"/>
              <a:ea typeface="Calibri"/>
              <a:cs typeface="Calibri"/>
              <a:sym typeface="Calibri"/>
            </a:endParaRPr>
          </a:p>
        </p:txBody>
      </p:sp>
      <p:sp>
        <p:nvSpPr>
          <p:cNvPr id="115" name="Google Shape;115;p4"/>
          <p:cNvSpPr/>
          <p:nvPr/>
        </p:nvSpPr>
        <p:spPr>
          <a:xfrm>
            <a:off x="5394960" y="3163824"/>
            <a:ext cx="3291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500"/>
              <a:buFont typeface="Georgia"/>
              <a:buNone/>
            </a:pPr>
            <a:r>
              <a:rPr lang="en-US" sz="1500" b="1" i="0" u="none" strike="noStrike" cap="none">
                <a:solidFill>
                  <a:srgbClr val="1A2332"/>
                </a:solidFill>
                <a:latin typeface="Georgia"/>
                <a:ea typeface="Georgia"/>
                <a:cs typeface="Georgia"/>
                <a:sym typeface="Georgia"/>
              </a:rPr>
              <a:t>Developer / AI</a:t>
            </a:r>
            <a:endParaRPr sz="1500" b="0" i="0" u="none" strike="noStrike" cap="none">
              <a:solidFill>
                <a:schemeClr val="dk1"/>
              </a:solidFill>
              <a:latin typeface="Calibri"/>
              <a:ea typeface="Calibri"/>
              <a:cs typeface="Calibri"/>
              <a:sym typeface="Calibri"/>
            </a:endParaRPr>
          </a:p>
        </p:txBody>
      </p:sp>
      <p:sp>
        <p:nvSpPr>
          <p:cNvPr id="116" name="Google Shape;116;p4"/>
          <p:cNvSpPr/>
          <p:nvPr/>
        </p:nvSpPr>
        <p:spPr>
          <a:xfrm>
            <a:off x="4892040" y="3593592"/>
            <a:ext cx="3840480" cy="1143000"/>
          </a:xfrm>
          <a:prstGeom prst="rect">
            <a:avLst/>
          </a:prstGeom>
          <a:noFill/>
          <a:ln>
            <a:noFill/>
          </a:ln>
        </p:spPr>
        <p:txBody>
          <a:bodyPr spcFirstLastPara="1" wrap="square" lIns="0" tIns="0" rIns="0" bIns="0" anchor="ctr" anchorCtr="0">
            <a:noAutofit/>
          </a:bodyPr>
          <a:lstStyle/>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Built via AI prompts</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Claude AI generated code</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Zero manual coding</a:t>
            </a:r>
            <a:endParaRPr sz="1600" b="0" i="0" u="none" strike="noStrike" cap="none">
              <a:solidFill>
                <a:schemeClr val="dk1"/>
              </a:solidFill>
              <a:latin typeface="Calibri"/>
              <a:ea typeface="Calibri"/>
              <a:cs typeface="Calibri"/>
              <a:sym typeface="Calibri"/>
            </a:endParaRPr>
          </a:p>
          <a:p>
            <a:pPr marL="342900" marR="0" lvl="0" indent="-374650" algn="l" rtl="0">
              <a:spcBef>
                <a:spcPts val="0"/>
              </a:spcBef>
              <a:spcAft>
                <a:spcPts val="0"/>
              </a:spcAft>
              <a:buClr>
                <a:srgbClr val="64748B"/>
              </a:buClr>
              <a:buSzPts val="1600"/>
              <a:buFont typeface="Calibri"/>
              <a:buChar char="•"/>
            </a:pPr>
            <a:r>
              <a:rPr lang="en-US" sz="1600" b="0" i="0" u="none" strike="noStrike" cap="none">
                <a:solidFill>
                  <a:srgbClr val="64748B"/>
                </a:solidFill>
                <a:latin typeface="Calibri"/>
                <a:ea typeface="Calibri"/>
                <a:cs typeface="Calibri"/>
                <a:sym typeface="Calibri"/>
              </a:rPr>
              <a:t>44 files, 3500+ lines</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Shape 121"/>
        <p:cNvGrpSpPr/>
        <p:nvPr/>
      </p:nvGrpSpPr>
      <p:grpSpPr>
        <a:xfrm>
          <a:off x="0" y="0"/>
          <a:ext cx="0" cy="0"/>
          <a:chOff x="0" y="0"/>
          <a:chExt cx="0" cy="0"/>
        </a:xfrm>
      </p:grpSpPr>
      <p:sp>
        <p:nvSpPr>
          <p:cNvPr id="122" name="Google Shape;122;p5"/>
          <p:cNvSpPr/>
          <p:nvPr/>
        </p:nvSpPr>
        <p:spPr>
          <a:xfrm>
            <a:off x="0" y="0"/>
            <a:ext cx="9144000" cy="777240"/>
          </a:xfrm>
          <a:prstGeom prst="rect">
            <a:avLst/>
          </a:prstGeom>
          <a:solidFill>
            <a:srgbClr val="2C3E50"/>
          </a:solidFill>
          <a:ln w="12700" cap="flat" cmpd="sng">
            <a:solidFill>
              <a:srgbClr val="2C3E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05</a:t>
            </a:r>
            <a:endParaRPr sz="2800" b="0" i="0" u="none" strike="noStrike" cap="none">
              <a:solidFill>
                <a:schemeClr val="dk1"/>
              </a:solidFill>
              <a:latin typeface="Calibri"/>
              <a:ea typeface="Calibri"/>
              <a:cs typeface="Calibri"/>
              <a:sym typeface="Calibri"/>
            </a:endParaRPr>
          </a:p>
        </p:txBody>
      </p:sp>
      <p:sp>
        <p:nvSpPr>
          <p:cNvPr id="125" name="Google Shape;125;p5"/>
          <p:cNvSpPr/>
          <p:nvPr/>
        </p:nvSpPr>
        <p:spPr>
          <a:xfrm>
            <a:off x="365760" y="137160"/>
            <a:ext cx="73152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Georgia"/>
              <a:buNone/>
            </a:pPr>
            <a:r>
              <a:rPr lang="en-US" sz="2200" b="1" i="0" u="none" strike="noStrike" cap="none">
                <a:solidFill>
                  <a:srgbClr val="FFFFFF"/>
                </a:solidFill>
                <a:latin typeface="Georgia"/>
                <a:ea typeface="Georgia"/>
                <a:cs typeface="Georgia"/>
                <a:sym typeface="Georgia"/>
              </a:rPr>
              <a:t>Programming Languages, Tools &amp; Software</a:t>
            </a:r>
            <a:endParaRPr sz="2200" b="0" i="0" u="none" strike="noStrike" cap="none">
              <a:solidFill>
                <a:schemeClr val="dk1"/>
              </a:solidFill>
              <a:latin typeface="Calibri"/>
              <a:ea typeface="Calibri"/>
              <a:cs typeface="Calibri"/>
              <a:sym typeface="Calibri"/>
            </a:endParaRPr>
          </a:p>
        </p:txBody>
      </p:sp>
      <p:sp>
        <p:nvSpPr>
          <p:cNvPr id="126" name="Google Shape;126;p5"/>
          <p:cNvSpPr/>
          <p:nvPr/>
        </p:nvSpPr>
        <p:spPr>
          <a:xfrm>
            <a:off x="228600" y="987552"/>
            <a:ext cx="1554480" cy="1691640"/>
          </a:xfrm>
          <a:prstGeom prst="rect">
            <a:avLst/>
          </a:prstGeom>
          <a:solidFill>
            <a:srgbClr val="2C3E50"/>
          </a:solidFill>
          <a:ln w="9525" cap="flat" cmpd="sng">
            <a:solidFill>
              <a:srgbClr val="27AE6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28600" y="987552"/>
            <a:ext cx="1554480" cy="54864"/>
          </a:xfrm>
          <a:prstGeom prst="rect">
            <a:avLst/>
          </a:prstGeom>
          <a:solidFill>
            <a:srgbClr val="27AE60"/>
          </a:solidFill>
          <a:ln w="12700" cap="flat" cmpd="sng">
            <a:solidFill>
              <a:srgbClr val="27AE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228600" y="112471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29" name="Google Shape;129;p5"/>
          <p:cNvSpPr/>
          <p:nvPr/>
        </p:nvSpPr>
        <p:spPr>
          <a:xfrm>
            <a:off x="292608" y="179222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Node.js</a:t>
            </a:r>
            <a:endParaRPr sz="1100" b="0" i="0" u="none" strike="noStrike" cap="none">
              <a:solidFill>
                <a:schemeClr val="dk1"/>
              </a:solidFill>
              <a:latin typeface="Calibri"/>
              <a:ea typeface="Calibri"/>
              <a:cs typeface="Calibri"/>
              <a:sym typeface="Calibri"/>
            </a:endParaRPr>
          </a:p>
        </p:txBody>
      </p:sp>
      <p:sp>
        <p:nvSpPr>
          <p:cNvPr id="130" name="Google Shape;130;p5"/>
          <p:cNvSpPr/>
          <p:nvPr/>
        </p:nvSpPr>
        <p:spPr>
          <a:xfrm>
            <a:off x="292608" y="217627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7AE60"/>
              </a:buClr>
              <a:buSzPts val="900"/>
              <a:buFont typeface="Calibri"/>
              <a:buNone/>
            </a:pPr>
            <a:r>
              <a:rPr lang="en-US" sz="900" b="0" i="0" u="none" strike="noStrike" cap="none">
                <a:solidFill>
                  <a:srgbClr val="27AE60"/>
                </a:solidFill>
                <a:latin typeface="Calibri"/>
                <a:ea typeface="Calibri"/>
                <a:cs typeface="Calibri"/>
                <a:sym typeface="Calibri"/>
              </a:rPr>
              <a:t>Runtime</a:t>
            </a:r>
            <a:endParaRPr sz="900" b="0" i="0" u="none" strike="noStrike" cap="none">
              <a:solidFill>
                <a:schemeClr val="dk1"/>
              </a:solidFill>
              <a:latin typeface="Calibri"/>
              <a:ea typeface="Calibri"/>
              <a:cs typeface="Calibri"/>
              <a:sym typeface="Calibri"/>
            </a:endParaRPr>
          </a:p>
        </p:txBody>
      </p:sp>
      <p:sp>
        <p:nvSpPr>
          <p:cNvPr id="131" name="Google Shape;131;p5"/>
          <p:cNvSpPr/>
          <p:nvPr/>
        </p:nvSpPr>
        <p:spPr>
          <a:xfrm>
            <a:off x="1965960" y="987552"/>
            <a:ext cx="1554480" cy="169164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1965960" y="987552"/>
            <a:ext cx="1554480" cy="54864"/>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1965960" y="112471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34" name="Google Shape;134;p5"/>
          <p:cNvSpPr/>
          <p:nvPr/>
        </p:nvSpPr>
        <p:spPr>
          <a:xfrm>
            <a:off x="2029968" y="179222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Express.js</a:t>
            </a:r>
            <a:endParaRPr sz="1100" b="0" i="0" u="none" strike="noStrike" cap="none">
              <a:solidFill>
                <a:schemeClr val="dk1"/>
              </a:solidFill>
              <a:latin typeface="Calibri"/>
              <a:ea typeface="Calibri"/>
              <a:cs typeface="Calibri"/>
              <a:sym typeface="Calibri"/>
            </a:endParaRPr>
          </a:p>
        </p:txBody>
      </p:sp>
      <p:sp>
        <p:nvSpPr>
          <p:cNvPr id="135" name="Google Shape;135;p5"/>
          <p:cNvSpPr/>
          <p:nvPr/>
        </p:nvSpPr>
        <p:spPr>
          <a:xfrm>
            <a:off x="2029968" y="217627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Framework</a:t>
            </a:r>
            <a:endParaRPr sz="900" b="0" i="0" u="none" strike="noStrike" cap="none">
              <a:solidFill>
                <a:schemeClr val="dk1"/>
              </a:solidFill>
              <a:latin typeface="Calibri"/>
              <a:ea typeface="Calibri"/>
              <a:cs typeface="Calibri"/>
              <a:sym typeface="Calibri"/>
            </a:endParaRPr>
          </a:p>
        </p:txBody>
      </p:sp>
      <p:sp>
        <p:nvSpPr>
          <p:cNvPr id="136" name="Google Shape;136;p5"/>
          <p:cNvSpPr/>
          <p:nvPr/>
        </p:nvSpPr>
        <p:spPr>
          <a:xfrm>
            <a:off x="3703320" y="987552"/>
            <a:ext cx="1554480" cy="1691640"/>
          </a:xfrm>
          <a:prstGeom prst="rect">
            <a:avLst/>
          </a:prstGeom>
          <a:solidFill>
            <a:srgbClr val="2C3E50"/>
          </a:solidFill>
          <a:ln w="9525" cap="flat" cmpd="sng">
            <a:solidFill>
              <a:srgbClr val="27AE6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3703320" y="987552"/>
            <a:ext cx="1554480" cy="54864"/>
          </a:xfrm>
          <a:prstGeom prst="rect">
            <a:avLst/>
          </a:prstGeom>
          <a:solidFill>
            <a:srgbClr val="27AE60"/>
          </a:solidFill>
          <a:ln w="12700" cap="flat" cmpd="sng">
            <a:solidFill>
              <a:srgbClr val="27AE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3703320" y="112471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39" name="Google Shape;139;p5"/>
          <p:cNvSpPr/>
          <p:nvPr/>
        </p:nvSpPr>
        <p:spPr>
          <a:xfrm>
            <a:off x="3767328" y="179222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MongoDB</a:t>
            </a:r>
            <a:endParaRPr sz="1100" b="0" i="0" u="none" strike="noStrike" cap="none">
              <a:solidFill>
                <a:schemeClr val="dk1"/>
              </a:solidFill>
              <a:latin typeface="Calibri"/>
              <a:ea typeface="Calibri"/>
              <a:cs typeface="Calibri"/>
              <a:sym typeface="Calibri"/>
            </a:endParaRPr>
          </a:p>
        </p:txBody>
      </p:sp>
      <p:sp>
        <p:nvSpPr>
          <p:cNvPr id="140" name="Google Shape;140;p5"/>
          <p:cNvSpPr/>
          <p:nvPr/>
        </p:nvSpPr>
        <p:spPr>
          <a:xfrm>
            <a:off x="3767328" y="217627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7AE60"/>
              </a:buClr>
              <a:buSzPts val="900"/>
              <a:buFont typeface="Calibri"/>
              <a:buNone/>
            </a:pPr>
            <a:r>
              <a:rPr lang="en-US" sz="900" b="0" i="0" u="none" strike="noStrike" cap="none">
                <a:solidFill>
                  <a:srgbClr val="27AE60"/>
                </a:solidFill>
                <a:latin typeface="Calibri"/>
                <a:ea typeface="Calibri"/>
                <a:cs typeface="Calibri"/>
                <a:sym typeface="Calibri"/>
              </a:rPr>
              <a:t>Database</a:t>
            </a:r>
            <a:endParaRPr sz="900" b="0" i="0" u="none" strike="noStrike" cap="none">
              <a:solidFill>
                <a:schemeClr val="dk1"/>
              </a:solidFill>
              <a:latin typeface="Calibri"/>
              <a:ea typeface="Calibri"/>
              <a:cs typeface="Calibri"/>
              <a:sym typeface="Calibri"/>
            </a:endParaRPr>
          </a:p>
        </p:txBody>
      </p:sp>
      <p:sp>
        <p:nvSpPr>
          <p:cNvPr id="141" name="Google Shape;141;p5"/>
          <p:cNvSpPr/>
          <p:nvPr/>
        </p:nvSpPr>
        <p:spPr>
          <a:xfrm>
            <a:off x="5440680" y="987552"/>
            <a:ext cx="1554480" cy="1691640"/>
          </a:xfrm>
          <a:prstGeom prst="rect">
            <a:avLst/>
          </a:prstGeom>
          <a:solidFill>
            <a:srgbClr val="2C3E50"/>
          </a:solidFill>
          <a:ln w="9525" cap="flat" cmpd="sng">
            <a:solidFill>
              <a:srgbClr val="3498DB"/>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5440680" y="987552"/>
            <a:ext cx="1554480" cy="54864"/>
          </a:xfrm>
          <a:prstGeom prst="rect">
            <a:avLst/>
          </a:prstGeom>
          <a:solidFill>
            <a:srgbClr val="3498DB"/>
          </a:solidFill>
          <a:ln w="12700" cap="flat" cmpd="sng">
            <a:solidFill>
              <a:srgbClr val="3498D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5440680" y="112471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44" name="Google Shape;144;p5"/>
          <p:cNvSpPr/>
          <p:nvPr/>
        </p:nvSpPr>
        <p:spPr>
          <a:xfrm>
            <a:off x="5504688" y="179222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Mongoose</a:t>
            </a:r>
            <a:endParaRPr sz="1100" b="0" i="0" u="none" strike="noStrike" cap="none">
              <a:solidFill>
                <a:schemeClr val="dk1"/>
              </a:solidFill>
              <a:latin typeface="Calibri"/>
              <a:ea typeface="Calibri"/>
              <a:cs typeface="Calibri"/>
              <a:sym typeface="Calibri"/>
            </a:endParaRPr>
          </a:p>
        </p:txBody>
      </p:sp>
      <p:sp>
        <p:nvSpPr>
          <p:cNvPr id="145" name="Google Shape;145;p5"/>
          <p:cNvSpPr/>
          <p:nvPr/>
        </p:nvSpPr>
        <p:spPr>
          <a:xfrm>
            <a:off x="5504688" y="217627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498DB"/>
              </a:buClr>
              <a:buSzPts val="900"/>
              <a:buFont typeface="Calibri"/>
              <a:buNone/>
            </a:pPr>
            <a:r>
              <a:rPr lang="en-US" sz="900" b="0" i="0" u="none" strike="noStrike" cap="none">
                <a:solidFill>
                  <a:srgbClr val="3498DB"/>
                </a:solidFill>
                <a:latin typeface="Calibri"/>
                <a:ea typeface="Calibri"/>
                <a:cs typeface="Calibri"/>
                <a:sym typeface="Calibri"/>
              </a:rPr>
              <a:t>ODM</a:t>
            </a:r>
            <a:endParaRPr sz="900" b="0" i="0" u="none" strike="noStrike" cap="none">
              <a:solidFill>
                <a:schemeClr val="dk1"/>
              </a:solidFill>
              <a:latin typeface="Calibri"/>
              <a:ea typeface="Calibri"/>
              <a:cs typeface="Calibri"/>
              <a:sym typeface="Calibri"/>
            </a:endParaRPr>
          </a:p>
        </p:txBody>
      </p:sp>
      <p:sp>
        <p:nvSpPr>
          <p:cNvPr id="146" name="Google Shape;146;p5"/>
          <p:cNvSpPr/>
          <p:nvPr/>
        </p:nvSpPr>
        <p:spPr>
          <a:xfrm>
            <a:off x="7178040" y="987552"/>
            <a:ext cx="1554480" cy="1691640"/>
          </a:xfrm>
          <a:prstGeom prst="rect">
            <a:avLst/>
          </a:prstGeom>
          <a:solidFill>
            <a:srgbClr val="2C3E50"/>
          </a:solidFill>
          <a:ln w="9525" cap="flat" cmpd="sng">
            <a:solidFill>
              <a:srgbClr val="9B59B6"/>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7178040" y="987552"/>
            <a:ext cx="1554480" cy="54864"/>
          </a:xfrm>
          <a:prstGeom prst="rect">
            <a:avLst/>
          </a:prstGeom>
          <a:solidFill>
            <a:srgbClr val="9B59B6"/>
          </a:solidFill>
          <a:ln w="12700" cap="flat" cmpd="sng">
            <a:solidFill>
              <a:srgbClr val="9B59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7178040" y="112471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49" name="Google Shape;149;p5"/>
          <p:cNvSpPr/>
          <p:nvPr/>
        </p:nvSpPr>
        <p:spPr>
          <a:xfrm>
            <a:off x="7242048" y="179222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EJS</a:t>
            </a:r>
            <a:endParaRPr sz="1100" b="0" i="0" u="none" strike="noStrike" cap="none">
              <a:solidFill>
                <a:schemeClr val="dk1"/>
              </a:solidFill>
              <a:latin typeface="Calibri"/>
              <a:ea typeface="Calibri"/>
              <a:cs typeface="Calibri"/>
              <a:sym typeface="Calibri"/>
            </a:endParaRPr>
          </a:p>
        </p:txBody>
      </p:sp>
      <p:sp>
        <p:nvSpPr>
          <p:cNvPr id="150" name="Google Shape;150;p5"/>
          <p:cNvSpPr/>
          <p:nvPr/>
        </p:nvSpPr>
        <p:spPr>
          <a:xfrm>
            <a:off x="7242048" y="217627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B59B6"/>
              </a:buClr>
              <a:buSzPts val="900"/>
              <a:buFont typeface="Calibri"/>
              <a:buNone/>
            </a:pPr>
            <a:r>
              <a:rPr lang="en-US" sz="900" b="0" i="0" u="none" strike="noStrike" cap="none">
                <a:solidFill>
                  <a:srgbClr val="9B59B6"/>
                </a:solidFill>
                <a:latin typeface="Calibri"/>
                <a:ea typeface="Calibri"/>
                <a:cs typeface="Calibri"/>
                <a:sym typeface="Calibri"/>
              </a:rPr>
              <a:t>Template Engine</a:t>
            </a:r>
            <a:endParaRPr sz="900" b="0" i="0" u="none" strike="noStrike" cap="none">
              <a:solidFill>
                <a:schemeClr val="dk1"/>
              </a:solidFill>
              <a:latin typeface="Calibri"/>
              <a:ea typeface="Calibri"/>
              <a:cs typeface="Calibri"/>
              <a:sym typeface="Calibri"/>
            </a:endParaRPr>
          </a:p>
        </p:txBody>
      </p:sp>
      <p:sp>
        <p:nvSpPr>
          <p:cNvPr id="151" name="Google Shape;151;p5"/>
          <p:cNvSpPr/>
          <p:nvPr/>
        </p:nvSpPr>
        <p:spPr>
          <a:xfrm>
            <a:off x="228600" y="2907792"/>
            <a:ext cx="1554480" cy="1691640"/>
          </a:xfrm>
          <a:prstGeom prst="rect">
            <a:avLst/>
          </a:prstGeom>
          <a:solidFill>
            <a:srgbClr val="2C3E50"/>
          </a:solidFill>
          <a:ln w="9525" cap="flat" cmpd="sng">
            <a:solidFill>
              <a:srgbClr val="E74C3C"/>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228600" y="2907792"/>
            <a:ext cx="1554480" cy="54864"/>
          </a:xfrm>
          <a:prstGeom prst="rect">
            <a:avLst/>
          </a:prstGeom>
          <a:solidFill>
            <a:srgbClr val="E74C3C"/>
          </a:solidFill>
          <a:ln w="12700" cap="flat" cmpd="sng">
            <a:solidFill>
              <a:srgbClr val="E74C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228600" y="304495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54" name="Google Shape;154;p5"/>
          <p:cNvSpPr/>
          <p:nvPr/>
        </p:nvSpPr>
        <p:spPr>
          <a:xfrm>
            <a:off x="292608" y="371246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bcryptjs</a:t>
            </a:r>
            <a:endParaRPr sz="1100" b="0" i="0" u="none" strike="noStrike" cap="none">
              <a:solidFill>
                <a:schemeClr val="dk1"/>
              </a:solidFill>
              <a:latin typeface="Calibri"/>
              <a:ea typeface="Calibri"/>
              <a:cs typeface="Calibri"/>
              <a:sym typeface="Calibri"/>
            </a:endParaRPr>
          </a:p>
        </p:txBody>
      </p:sp>
      <p:sp>
        <p:nvSpPr>
          <p:cNvPr id="155" name="Google Shape;155;p5"/>
          <p:cNvSpPr/>
          <p:nvPr/>
        </p:nvSpPr>
        <p:spPr>
          <a:xfrm>
            <a:off x="292608" y="409651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74C3C"/>
              </a:buClr>
              <a:buSzPts val="900"/>
              <a:buFont typeface="Calibri"/>
              <a:buNone/>
            </a:pPr>
            <a:r>
              <a:rPr lang="en-US" sz="900" b="0" i="0" u="none" strike="noStrike" cap="none">
                <a:solidFill>
                  <a:srgbClr val="E74C3C"/>
                </a:solidFill>
                <a:latin typeface="Calibri"/>
                <a:ea typeface="Calibri"/>
                <a:cs typeface="Calibri"/>
                <a:sym typeface="Calibri"/>
              </a:rPr>
              <a:t>Auth / Hashing</a:t>
            </a:r>
            <a:endParaRPr sz="900" b="0" i="0" u="none" strike="noStrike" cap="none">
              <a:solidFill>
                <a:schemeClr val="dk1"/>
              </a:solidFill>
              <a:latin typeface="Calibri"/>
              <a:ea typeface="Calibri"/>
              <a:cs typeface="Calibri"/>
              <a:sym typeface="Calibri"/>
            </a:endParaRPr>
          </a:p>
        </p:txBody>
      </p:sp>
      <p:sp>
        <p:nvSpPr>
          <p:cNvPr id="156" name="Google Shape;156;p5"/>
          <p:cNvSpPr/>
          <p:nvPr/>
        </p:nvSpPr>
        <p:spPr>
          <a:xfrm>
            <a:off x="1965960" y="2907792"/>
            <a:ext cx="1554480" cy="169164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1965960" y="2907792"/>
            <a:ext cx="1554480" cy="54864"/>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1965960" y="304495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59" name="Google Shape;159;p5"/>
          <p:cNvSpPr/>
          <p:nvPr/>
        </p:nvSpPr>
        <p:spPr>
          <a:xfrm>
            <a:off x="2029968" y="371246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express-session</a:t>
            </a:r>
            <a:endParaRPr sz="1100" b="0" i="0" u="none" strike="noStrike" cap="none">
              <a:solidFill>
                <a:schemeClr val="dk1"/>
              </a:solidFill>
              <a:latin typeface="Calibri"/>
              <a:ea typeface="Calibri"/>
              <a:cs typeface="Calibri"/>
              <a:sym typeface="Calibri"/>
            </a:endParaRPr>
          </a:p>
        </p:txBody>
      </p:sp>
      <p:sp>
        <p:nvSpPr>
          <p:cNvPr id="160" name="Google Shape;160;p5"/>
          <p:cNvSpPr/>
          <p:nvPr/>
        </p:nvSpPr>
        <p:spPr>
          <a:xfrm>
            <a:off x="2029968" y="409651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Session Mgmt</a:t>
            </a:r>
            <a:endParaRPr sz="900" b="0" i="0" u="none" strike="noStrike" cap="none">
              <a:solidFill>
                <a:schemeClr val="dk1"/>
              </a:solidFill>
              <a:latin typeface="Calibri"/>
              <a:ea typeface="Calibri"/>
              <a:cs typeface="Calibri"/>
              <a:sym typeface="Calibri"/>
            </a:endParaRPr>
          </a:p>
        </p:txBody>
      </p:sp>
      <p:sp>
        <p:nvSpPr>
          <p:cNvPr id="161" name="Google Shape;161;p5"/>
          <p:cNvSpPr/>
          <p:nvPr/>
        </p:nvSpPr>
        <p:spPr>
          <a:xfrm>
            <a:off x="3703320" y="2907792"/>
            <a:ext cx="1554480" cy="1691640"/>
          </a:xfrm>
          <a:prstGeom prst="rect">
            <a:avLst/>
          </a:prstGeom>
          <a:solidFill>
            <a:srgbClr val="2C3E50"/>
          </a:solidFill>
          <a:ln w="9525" cap="flat" cmpd="sng">
            <a:solidFill>
              <a:srgbClr val="3498DB"/>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3703320" y="2907792"/>
            <a:ext cx="1554480" cy="54864"/>
          </a:xfrm>
          <a:prstGeom prst="rect">
            <a:avLst/>
          </a:prstGeom>
          <a:solidFill>
            <a:srgbClr val="3498DB"/>
          </a:solidFill>
          <a:ln w="12700" cap="flat" cmpd="sng">
            <a:solidFill>
              <a:srgbClr val="3498D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3703320" y="304495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64" name="Google Shape;164;p5"/>
          <p:cNvSpPr/>
          <p:nvPr/>
        </p:nvSpPr>
        <p:spPr>
          <a:xfrm>
            <a:off x="3767328" y="371246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Multer</a:t>
            </a:r>
            <a:endParaRPr sz="1100" b="0" i="0" u="none" strike="noStrike" cap="none">
              <a:solidFill>
                <a:schemeClr val="dk1"/>
              </a:solidFill>
              <a:latin typeface="Calibri"/>
              <a:ea typeface="Calibri"/>
              <a:cs typeface="Calibri"/>
              <a:sym typeface="Calibri"/>
            </a:endParaRPr>
          </a:p>
        </p:txBody>
      </p:sp>
      <p:sp>
        <p:nvSpPr>
          <p:cNvPr id="165" name="Google Shape;165;p5"/>
          <p:cNvSpPr/>
          <p:nvPr/>
        </p:nvSpPr>
        <p:spPr>
          <a:xfrm>
            <a:off x="3767328" y="409651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498DB"/>
              </a:buClr>
              <a:buSzPts val="900"/>
              <a:buFont typeface="Calibri"/>
              <a:buNone/>
            </a:pPr>
            <a:r>
              <a:rPr lang="en-US" sz="900" b="0" i="0" u="none" strike="noStrike" cap="none">
                <a:solidFill>
                  <a:srgbClr val="3498DB"/>
                </a:solidFill>
                <a:latin typeface="Calibri"/>
                <a:ea typeface="Calibri"/>
                <a:cs typeface="Calibri"/>
                <a:sym typeface="Calibri"/>
              </a:rPr>
              <a:t>File Upload</a:t>
            </a:r>
            <a:endParaRPr sz="900" b="0" i="0" u="none" strike="noStrike" cap="none">
              <a:solidFill>
                <a:schemeClr val="dk1"/>
              </a:solidFill>
              <a:latin typeface="Calibri"/>
              <a:ea typeface="Calibri"/>
              <a:cs typeface="Calibri"/>
              <a:sym typeface="Calibri"/>
            </a:endParaRPr>
          </a:p>
        </p:txBody>
      </p:sp>
      <p:sp>
        <p:nvSpPr>
          <p:cNvPr id="166" name="Google Shape;166;p5"/>
          <p:cNvSpPr/>
          <p:nvPr/>
        </p:nvSpPr>
        <p:spPr>
          <a:xfrm>
            <a:off x="5440680" y="2907792"/>
            <a:ext cx="1554480" cy="169164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5440680" y="2907792"/>
            <a:ext cx="1554480" cy="54864"/>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5440680" y="304495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69" name="Google Shape;169;p5"/>
          <p:cNvSpPr/>
          <p:nvPr/>
        </p:nvSpPr>
        <p:spPr>
          <a:xfrm>
            <a:off x="5504688" y="371246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Chart.js</a:t>
            </a:r>
            <a:endParaRPr sz="1100" b="0" i="0" u="none" strike="noStrike" cap="none">
              <a:solidFill>
                <a:schemeClr val="dk1"/>
              </a:solidFill>
              <a:latin typeface="Calibri"/>
              <a:ea typeface="Calibri"/>
              <a:cs typeface="Calibri"/>
              <a:sym typeface="Calibri"/>
            </a:endParaRPr>
          </a:p>
        </p:txBody>
      </p:sp>
      <p:sp>
        <p:nvSpPr>
          <p:cNvPr id="170" name="Google Shape;170;p5"/>
          <p:cNvSpPr/>
          <p:nvPr/>
        </p:nvSpPr>
        <p:spPr>
          <a:xfrm>
            <a:off x="5504688" y="409651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Charts</a:t>
            </a:r>
            <a:endParaRPr sz="900" b="0" i="0" u="none" strike="noStrike" cap="none">
              <a:solidFill>
                <a:schemeClr val="dk1"/>
              </a:solidFill>
              <a:latin typeface="Calibri"/>
              <a:ea typeface="Calibri"/>
              <a:cs typeface="Calibri"/>
              <a:sym typeface="Calibri"/>
            </a:endParaRPr>
          </a:p>
        </p:txBody>
      </p:sp>
      <p:sp>
        <p:nvSpPr>
          <p:cNvPr id="171" name="Google Shape;171;p5"/>
          <p:cNvSpPr/>
          <p:nvPr/>
        </p:nvSpPr>
        <p:spPr>
          <a:xfrm>
            <a:off x="7178040" y="2907792"/>
            <a:ext cx="1554480" cy="1691640"/>
          </a:xfrm>
          <a:prstGeom prst="rect">
            <a:avLst/>
          </a:prstGeom>
          <a:solidFill>
            <a:srgbClr val="2C3E50"/>
          </a:solidFill>
          <a:ln w="9525" cap="flat" cmpd="sng">
            <a:solidFill>
              <a:srgbClr val="9B59B6"/>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7178040" y="2907792"/>
            <a:ext cx="1554480" cy="54864"/>
          </a:xfrm>
          <a:prstGeom prst="rect">
            <a:avLst/>
          </a:prstGeom>
          <a:solidFill>
            <a:srgbClr val="9B59B6"/>
          </a:solidFill>
          <a:ln w="12700" cap="flat" cmpd="sng">
            <a:solidFill>
              <a:srgbClr val="9B59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7178040" y="3044952"/>
            <a:ext cx="15544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74" name="Google Shape;174;p5"/>
          <p:cNvSpPr/>
          <p:nvPr/>
        </p:nvSpPr>
        <p:spPr>
          <a:xfrm>
            <a:off x="7242048" y="3712464"/>
            <a:ext cx="142646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Claude AI</a:t>
            </a:r>
            <a:endParaRPr sz="1100" b="0" i="0" u="none" strike="noStrike" cap="none">
              <a:solidFill>
                <a:schemeClr val="dk1"/>
              </a:solidFill>
              <a:latin typeface="Calibri"/>
              <a:ea typeface="Calibri"/>
              <a:cs typeface="Calibri"/>
              <a:sym typeface="Calibri"/>
            </a:endParaRPr>
          </a:p>
        </p:txBody>
      </p:sp>
      <p:sp>
        <p:nvSpPr>
          <p:cNvPr id="175" name="Google Shape;175;p5"/>
          <p:cNvSpPr/>
          <p:nvPr/>
        </p:nvSpPr>
        <p:spPr>
          <a:xfrm>
            <a:off x="7242048" y="4096512"/>
            <a:ext cx="1426464"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B59B6"/>
              </a:buClr>
              <a:buSzPts val="900"/>
              <a:buFont typeface="Calibri"/>
              <a:buNone/>
            </a:pPr>
            <a:r>
              <a:rPr lang="en-US" sz="900" b="0" i="0" u="none" strike="noStrike" cap="none">
                <a:solidFill>
                  <a:srgbClr val="9B59B6"/>
                </a:solidFill>
                <a:latin typeface="Calibri"/>
                <a:ea typeface="Calibri"/>
                <a:cs typeface="Calibri"/>
                <a:sym typeface="Calibri"/>
              </a:rPr>
              <a:t>AI Prompt Tool</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Shape 180"/>
        <p:cNvGrpSpPr/>
        <p:nvPr/>
      </p:nvGrpSpPr>
      <p:grpSpPr>
        <a:xfrm>
          <a:off x="0" y="0"/>
          <a:ext cx="0" cy="0"/>
          <a:chOff x="0" y="0"/>
          <a:chExt cx="0" cy="0"/>
        </a:xfrm>
      </p:grpSpPr>
      <p:sp>
        <p:nvSpPr>
          <p:cNvPr id="181" name="Google Shape;181;p6"/>
          <p:cNvSpPr/>
          <p:nvPr/>
        </p:nvSpPr>
        <p:spPr>
          <a:xfrm>
            <a:off x="0" y="0"/>
            <a:ext cx="9144000" cy="777240"/>
          </a:xfrm>
          <a:prstGeom prst="rect">
            <a:avLst/>
          </a:prstGeom>
          <a:solidFill>
            <a:srgbClr val="1A2332"/>
          </a:solidFill>
          <a:ln w="12700" cap="flat" cmpd="sng">
            <a:solidFill>
              <a:srgbClr val="1A23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6"/>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06</a:t>
            </a:r>
            <a:endParaRPr sz="2800" b="0" i="0" u="none" strike="noStrike" cap="none">
              <a:solidFill>
                <a:schemeClr val="dk1"/>
              </a:solidFill>
              <a:latin typeface="Calibri"/>
              <a:ea typeface="Calibri"/>
              <a:cs typeface="Calibri"/>
              <a:sym typeface="Calibri"/>
            </a:endParaRPr>
          </a:p>
        </p:txBody>
      </p:sp>
      <p:sp>
        <p:nvSpPr>
          <p:cNvPr id="184" name="Google Shape;184;p6"/>
          <p:cNvSpPr/>
          <p:nvPr/>
        </p:nvSpPr>
        <p:spPr>
          <a:xfrm>
            <a:off x="365760" y="137160"/>
            <a:ext cx="74980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100"/>
              <a:buFont typeface="Georgia"/>
              <a:buNone/>
            </a:pPr>
            <a:r>
              <a:rPr lang="en-US" sz="2100" b="1" i="0" u="none" strike="noStrike" cap="none">
                <a:solidFill>
                  <a:srgbClr val="FFFFFF"/>
                </a:solidFill>
                <a:latin typeface="Georgia"/>
                <a:ea typeface="Georgia"/>
                <a:cs typeface="Georgia"/>
                <a:sym typeface="Georgia"/>
              </a:rPr>
              <a:t>AI Prompts Used to Generate Code  (Part 1 / 2)</a:t>
            </a:r>
            <a:endParaRPr sz="2100" b="0" i="0" u="none" strike="noStrike" cap="none">
              <a:solidFill>
                <a:schemeClr val="dk1"/>
              </a:solidFill>
              <a:latin typeface="Calibri"/>
              <a:ea typeface="Calibri"/>
              <a:cs typeface="Calibri"/>
              <a:sym typeface="Calibri"/>
            </a:endParaRPr>
          </a:p>
        </p:txBody>
      </p:sp>
      <p:sp>
        <p:nvSpPr>
          <p:cNvPr id="185" name="Google Shape;185;p6"/>
          <p:cNvSpPr/>
          <p:nvPr/>
        </p:nvSpPr>
        <p:spPr>
          <a:xfrm>
            <a:off x="274320" y="1005840"/>
            <a:ext cx="8595360" cy="9144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6"/>
          <p:cNvSpPr/>
          <p:nvPr/>
        </p:nvSpPr>
        <p:spPr>
          <a:xfrm>
            <a:off x="274320" y="1005840"/>
            <a:ext cx="64008" cy="9144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p:nvPr/>
        </p:nvSpPr>
        <p:spPr>
          <a:xfrm>
            <a:off x="411480" y="1051560"/>
            <a:ext cx="10972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000"/>
              <a:buFont typeface="Calibri"/>
              <a:buNone/>
            </a:pPr>
            <a:r>
              <a:rPr lang="en-US" sz="1000" b="1" i="0" u="none" strike="noStrike" cap="none">
                <a:solidFill>
                  <a:srgbClr val="E76F37"/>
                </a:solidFill>
                <a:latin typeface="Calibri"/>
                <a:ea typeface="Calibri"/>
                <a:cs typeface="Calibri"/>
                <a:sym typeface="Calibri"/>
              </a:rPr>
              <a:t>Prompt 1</a:t>
            </a:r>
            <a:endParaRPr sz="1000" b="0" i="0" u="none" strike="noStrike" cap="none">
              <a:solidFill>
                <a:schemeClr val="dk1"/>
              </a:solidFill>
              <a:latin typeface="Calibri"/>
              <a:ea typeface="Calibri"/>
              <a:cs typeface="Calibri"/>
              <a:sym typeface="Calibri"/>
            </a:endParaRPr>
          </a:p>
        </p:txBody>
      </p:sp>
      <p:sp>
        <p:nvSpPr>
          <p:cNvPr id="188" name="Google Shape;188;p6"/>
          <p:cNvSpPr/>
          <p:nvPr/>
        </p:nvSpPr>
        <p:spPr>
          <a:xfrm>
            <a:off x="411480" y="1307592"/>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50"/>
              <a:buFont typeface="Calibri"/>
              <a:buNone/>
            </a:pPr>
            <a:r>
              <a:rPr lang="en-US" sz="1350">
                <a:solidFill>
                  <a:srgbClr val="64748B"/>
                </a:solidFill>
                <a:latin typeface="Calibri"/>
                <a:ea typeface="Calibri"/>
                <a:cs typeface="Calibri"/>
                <a:sym typeface="Calibri"/>
              </a:rPr>
              <a:t>Create a responsive restaurant website using HTML, CSS, and JavaScript with sections like Home, Menu, and Contact.</a:t>
            </a:r>
            <a:endParaRPr sz="1350" b="0" i="0" u="none" strike="noStrike" cap="none">
              <a:solidFill>
                <a:schemeClr val="dk1"/>
              </a:solidFill>
              <a:latin typeface="Calibri"/>
              <a:ea typeface="Calibri"/>
              <a:cs typeface="Calibri"/>
              <a:sym typeface="Calibri"/>
            </a:endParaRPr>
          </a:p>
        </p:txBody>
      </p:sp>
      <p:sp>
        <p:nvSpPr>
          <p:cNvPr id="189" name="Google Shape;189;p6"/>
          <p:cNvSpPr/>
          <p:nvPr/>
        </p:nvSpPr>
        <p:spPr>
          <a:xfrm>
            <a:off x="274320" y="2011680"/>
            <a:ext cx="8595360" cy="9144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p:nvPr/>
        </p:nvSpPr>
        <p:spPr>
          <a:xfrm>
            <a:off x="274320" y="2011680"/>
            <a:ext cx="64008" cy="9144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a:off x="411480" y="2057400"/>
            <a:ext cx="10972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000"/>
              <a:buFont typeface="Calibri"/>
              <a:buNone/>
            </a:pPr>
            <a:r>
              <a:rPr lang="en-US" sz="1000" b="1" i="0" u="none" strike="noStrike" cap="none">
                <a:solidFill>
                  <a:srgbClr val="E76F37"/>
                </a:solidFill>
                <a:latin typeface="Calibri"/>
                <a:ea typeface="Calibri"/>
                <a:cs typeface="Calibri"/>
                <a:sym typeface="Calibri"/>
              </a:rPr>
              <a:t>Prompt 2</a:t>
            </a:r>
            <a:endParaRPr sz="1000" b="0" i="0" u="none" strike="noStrike" cap="none">
              <a:solidFill>
                <a:schemeClr val="dk1"/>
              </a:solidFill>
              <a:latin typeface="Calibri"/>
              <a:ea typeface="Calibri"/>
              <a:cs typeface="Calibri"/>
              <a:sym typeface="Calibri"/>
            </a:endParaRPr>
          </a:p>
        </p:txBody>
      </p:sp>
      <p:sp>
        <p:nvSpPr>
          <p:cNvPr id="192" name="Google Shape;192;p6"/>
          <p:cNvSpPr/>
          <p:nvPr/>
        </p:nvSpPr>
        <p:spPr>
          <a:xfrm>
            <a:off x="411480" y="2313432"/>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50"/>
              <a:buFont typeface="Calibri"/>
              <a:buNone/>
            </a:pPr>
            <a:r>
              <a:rPr lang="en-US" sz="1350" b="0" i="0" u="none" strike="noStrike" cap="none">
                <a:solidFill>
                  <a:srgbClr val="64748B"/>
                </a:solidFill>
                <a:latin typeface="Calibri"/>
                <a:ea typeface="Calibri"/>
                <a:cs typeface="Calibri"/>
                <a:sym typeface="Calibri"/>
              </a:rPr>
              <a:t>Continue — generate the remaining views: profile/index.ejs, public/css/style.css with full responsive design using CSS variables, and public/js/main.js with sidebar toggle, password visibility, alert auto-dismiss and file drag-and-drop.</a:t>
            </a:r>
            <a:endParaRPr sz="1350" b="0" i="0" u="none" strike="noStrike" cap="none">
              <a:solidFill>
                <a:schemeClr val="dk1"/>
              </a:solidFill>
              <a:latin typeface="Calibri"/>
              <a:ea typeface="Calibri"/>
              <a:cs typeface="Calibri"/>
              <a:sym typeface="Calibri"/>
            </a:endParaRPr>
          </a:p>
        </p:txBody>
      </p:sp>
      <p:sp>
        <p:nvSpPr>
          <p:cNvPr id="193" name="Google Shape;193;p6"/>
          <p:cNvSpPr/>
          <p:nvPr/>
        </p:nvSpPr>
        <p:spPr>
          <a:xfrm>
            <a:off x="274320" y="3017520"/>
            <a:ext cx="8595360" cy="9144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274320" y="3017520"/>
            <a:ext cx="64008" cy="9144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411480" y="3063240"/>
            <a:ext cx="10972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000"/>
              <a:buFont typeface="Calibri"/>
              <a:buNone/>
            </a:pPr>
            <a:r>
              <a:rPr lang="en-US" sz="1000" b="1" i="0" u="none" strike="noStrike" cap="none">
                <a:solidFill>
                  <a:srgbClr val="E76F37"/>
                </a:solidFill>
                <a:latin typeface="Calibri"/>
                <a:ea typeface="Calibri"/>
                <a:cs typeface="Calibri"/>
                <a:sym typeface="Calibri"/>
              </a:rPr>
              <a:t>Prompt 3</a:t>
            </a:r>
            <a:endParaRPr sz="1000" b="0" i="0" u="none" strike="noStrike" cap="none">
              <a:solidFill>
                <a:schemeClr val="dk1"/>
              </a:solidFill>
              <a:latin typeface="Calibri"/>
              <a:ea typeface="Calibri"/>
              <a:cs typeface="Calibri"/>
              <a:sym typeface="Calibri"/>
            </a:endParaRPr>
          </a:p>
        </p:txBody>
      </p:sp>
      <p:sp>
        <p:nvSpPr>
          <p:cNvPr id="196" name="Google Shape;196;p6"/>
          <p:cNvSpPr/>
          <p:nvPr/>
        </p:nvSpPr>
        <p:spPr>
          <a:xfrm>
            <a:off x="411480" y="3319272"/>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50"/>
              <a:buFont typeface="Calibri"/>
              <a:buNone/>
            </a:pPr>
            <a:r>
              <a:rPr lang="en-US" sz="1350">
                <a:solidFill>
                  <a:srgbClr val="64748B"/>
                </a:solidFill>
                <a:latin typeface="Calibri"/>
                <a:ea typeface="Calibri"/>
                <a:cs typeface="Calibri"/>
                <a:sym typeface="Calibri"/>
              </a:rPr>
              <a:t>Develop a Node.js Express backend with MongoDB connection for storing user and order data.</a:t>
            </a:r>
            <a:endParaRPr sz="1350" b="0" i="0" u="none" strike="noStrike" cap="none">
              <a:solidFill>
                <a:schemeClr val="dk1"/>
              </a:solidFill>
              <a:latin typeface="Calibri"/>
              <a:ea typeface="Calibri"/>
              <a:cs typeface="Calibri"/>
              <a:sym typeface="Calibri"/>
            </a:endParaRPr>
          </a:p>
        </p:txBody>
      </p:sp>
      <p:sp>
        <p:nvSpPr>
          <p:cNvPr id="197" name="Google Shape;197;p6"/>
          <p:cNvSpPr/>
          <p:nvPr/>
        </p:nvSpPr>
        <p:spPr>
          <a:xfrm>
            <a:off x="274320" y="4023360"/>
            <a:ext cx="8595360" cy="9144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274320" y="4023360"/>
            <a:ext cx="64008" cy="9144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a:off x="411480" y="4069080"/>
            <a:ext cx="10972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000"/>
              <a:buFont typeface="Calibri"/>
              <a:buNone/>
            </a:pPr>
            <a:r>
              <a:rPr lang="en-US" sz="1000" b="1" i="0" u="none" strike="noStrike" cap="none">
                <a:solidFill>
                  <a:srgbClr val="E76F37"/>
                </a:solidFill>
                <a:latin typeface="Calibri"/>
                <a:ea typeface="Calibri"/>
                <a:cs typeface="Calibri"/>
                <a:sym typeface="Calibri"/>
              </a:rPr>
              <a:t>Prompt 4</a:t>
            </a:r>
            <a:endParaRPr sz="1000" b="0" i="0" u="none" strike="noStrike" cap="none">
              <a:solidFill>
                <a:schemeClr val="dk1"/>
              </a:solidFill>
              <a:latin typeface="Calibri"/>
              <a:ea typeface="Calibri"/>
              <a:cs typeface="Calibri"/>
              <a:sym typeface="Calibri"/>
            </a:endParaRPr>
          </a:p>
        </p:txBody>
      </p:sp>
      <p:sp>
        <p:nvSpPr>
          <p:cNvPr id="200" name="Google Shape;200;p6"/>
          <p:cNvSpPr/>
          <p:nvPr/>
        </p:nvSpPr>
        <p:spPr>
          <a:xfrm>
            <a:off x="411480" y="4325112"/>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50"/>
              <a:buFont typeface="Calibri"/>
              <a:buNone/>
            </a:pPr>
            <a:r>
              <a:rPr lang="en-US" sz="1350">
                <a:solidFill>
                  <a:srgbClr val="64748B"/>
                </a:solidFill>
                <a:latin typeface="Calibri"/>
                <a:ea typeface="Calibri"/>
                <a:cs typeface="Calibri"/>
                <a:sym typeface="Calibri"/>
              </a:rPr>
              <a:t>Implement user authentication with login and registration using bcrypt and session management.</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Shape 205"/>
        <p:cNvGrpSpPr/>
        <p:nvPr/>
      </p:nvGrpSpPr>
      <p:grpSpPr>
        <a:xfrm>
          <a:off x="0" y="0"/>
          <a:ext cx="0" cy="0"/>
          <a:chOff x="0" y="0"/>
          <a:chExt cx="0" cy="0"/>
        </a:xfrm>
      </p:grpSpPr>
      <p:sp>
        <p:nvSpPr>
          <p:cNvPr id="206" name="Google Shape;206;p7"/>
          <p:cNvSpPr/>
          <p:nvPr/>
        </p:nvSpPr>
        <p:spPr>
          <a:xfrm>
            <a:off x="0" y="0"/>
            <a:ext cx="9144000" cy="777300"/>
          </a:xfrm>
          <a:prstGeom prst="rect">
            <a:avLst/>
          </a:prstGeom>
          <a:solidFill>
            <a:srgbClr val="1A2332"/>
          </a:solidFill>
          <a:ln w="12700" cap="flat" cmpd="sng">
            <a:solidFill>
              <a:srgbClr val="1A23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06</a:t>
            </a:r>
            <a:endParaRPr sz="2800" b="0" i="0" u="none" strike="noStrike" cap="none">
              <a:solidFill>
                <a:schemeClr val="dk1"/>
              </a:solidFill>
              <a:latin typeface="Calibri"/>
              <a:ea typeface="Calibri"/>
              <a:cs typeface="Calibri"/>
              <a:sym typeface="Calibri"/>
            </a:endParaRPr>
          </a:p>
        </p:txBody>
      </p:sp>
      <p:sp>
        <p:nvSpPr>
          <p:cNvPr id="209" name="Google Shape;209;p7"/>
          <p:cNvSpPr/>
          <p:nvPr/>
        </p:nvSpPr>
        <p:spPr>
          <a:xfrm>
            <a:off x="365760" y="137160"/>
            <a:ext cx="74980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100"/>
              <a:buFont typeface="Georgia"/>
              <a:buNone/>
            </a:pPr>
            <a:r>
              <a:rPr lang="en-US" sz="2100" b="1" i="0" u="none" strike="noStrike" cap="none">
                <a:solidFill>
                  <a:srgbClr val="FFFFFF"/>
                </a:solidFill>
                <a:latin typeface="Georgia"/>
                <a:ea typeface="Georgia"/>
                <a:cs typeface="Georgia"/>
                <a:sym typeface="Georgia"/>
              </a:rPr>
              <a:t>AI Prompts Used to Generate Code  (Part 2 / 2)</a:t>
            </a:r>
            <a:endParaRPr sz="2100" b="0" i="0" u="none" strike="noStrike" cap="none">
              <a:solidFill>
                <a:schemeClr val="dk1"/>
              </a:solidFill>
              <a:latin typeface="Calibri"/>
              <a:ea typeface="Calibri"/>
              <a:cs typeface="Calibri"/>
              <a:sym typeface="Calibri"/>
            </a:endParaRPr>
          </a:p>
        </p:txBody>
      </p:sp>
      <p:sp>
        <p:nvSpPr>
          <p:cNvPr id="210" name="Google Shape;210;p7"/>
          <p:cNvSpPr/>
          <p:nvPr/>
        </p:nvSpPr>
        <p:spPr>
          <a:xfrm>
            <a:off x="274320" y="1005840"/>
            <a:ext cx="8595300" cy="12345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274320" y="1005840"/>
            <a:ext cx="63900" cy="12345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411480" y="1069848"/>
            <a:ext cx="10972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000"/>
              <a:buFont typeface="Calibri"/>
              <a:buNone/>
            </a:pPr>
            <a:r>
              <a:rPr lang="en-US" sz="1000" b="1" i="0" u="none" strike="noStrike" cap="none">
                <a:solidFill>
                  <a:srgbClr val="E76F37"/>
                </a:solidFill>
                <a:latin typeface="Calibri"/>
                <a:ea typeface="Calibri"/>
                <a:cs typeface="Calibri"/>
                <a:sym typeface="Calibri"/>
              </a:rPr>
              <a:t>Prompt 5</a:t>
            </a:r>
            <a:endParaRPr sz="1000" b="0" i="0" u="none" strike="noStrike" cap="none">
              <a:solidFill>
                <a:schemeClr val="dk1"/>
              </a:solidFill>
              <a:latin typeface="Calibri"/>
              <a:ea typeface="Calibri"/>
              <a:cs typeface="Calibri"/>
              <a:sym typeface="Calibri"/>
            </a:endParaRPr>
          </a:p>
        </p:txBody>
      </p:sp>
      <p:sp>
        <p:nvSpPr>
          <p:cNvPr id="213" name="Google Shape;213;p7"/>
          <p:cNvSpPr/>
          <p:nvPr/>
        </p:nvSpPr>
        <p:spPr>
          <a:xfrm>
            <a:off x="411480" y="1353312"/>
            <a:ext cx="8229600" cy="80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300">
                <a:solidFill>
                  <a:srgbClr val="64748B"/>
                </a:solidFill>
                <a:latin typeface="Calibri"/>
                <a:ea typeface="Calibri"/>
                <a:cs typeface="Calibri"/>
                <a:sym typeface="Calibri"/>
              </a:rPr>
              <a:t>Design role-based access control with Admin and Customer functionalities.</a:t>
            </a:r>
            <a:endParaRPr sz="1300">
              <a:solidFill>
                <a:srgbClr val="64748B"/>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a:solidFill>
                  <a:srgbClr val="64748B"/>
                </a:solidFill>
                <a:latin typeface="Calibri"/>
                <a:ea typeface="Calibri"/>
                <a:cs typeface="Calibri"/>
                <a:sym typeface="Calibri"/>
              </a:rPr>
              <a:t>Create CRUD operations for managing food items including add, edit, delete, and display.</a:t>
            </a:r>
            <a:endParaRPr sz="1300">
              <a:solidFill>
                <a:srgbClr val="64748B"/>
              </a:solidFill>
              <a:latin typeface="Calibri"/>
              <a:ea typeface="Calibri"/>
              <a:cs typeface="Calibri"/>
              <a:sym typeface="Calibri"/>
            </a:endParaRPr>
          </a:p>
          <a:p>
            <a:pPr marL="0" marR="0" lvl="0" indent="0" algn="l" rtl="0">
              <a:spcBef>
                <a:spcPts val="0"/>
              </a:spcBef>
              <a:spcAft>
                <a:spcPts val="0"/>
              </a:spcAft>
              <a:buClr>
                <a:srgbClr val="64748B"/>
              </a:buClr>
              <a:buSzPts val="1100"/>
              <a:buFont typeface="Calibri"/>
              <a:buNone/>
            </a:pPr>
            <a:endParaRPr sz="1300">
              <a:solidFill>
                <a:srgbClr val="64748B"/>
              </a:solidFill>
              <a:latin typeface="Calibri"/>
              <a:ea typeface="Calibri"/>
              <a:cs typeface="Calibri"/>
              <a:sym typeface="Calibri"/>
            </a:endParaRPr>
          </a:p>
        </p:txBody>
      </p:sp>
      <p:sp>
        <p:nvSpPr>
          <p:cNvPr id="214" name="Google Shape;214;p7"/>
          <p:cNvSpPr/>
          <p:nvPr/>
        </p:nvSpPr>
        <p:spPr>
          <a:xfrm>
            <a:off x="274320" y="2359152"/>
            <a:ext cx="8595300" cy="12345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274320" y="2359152"/>
            <a:ext cx="63900" cy="123450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a:off x="411480" y="2423160"/>
            <a:ext cx="10974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000"/>
              <a:buFont typeface="Calibri"/>
              <a:buNone/>
            </a:pPr>
            <a:r>
              <a:rPr lang="en-US" sz="1000" b="1" i="0" u="none" strike="noStrike" cap="none">
                <a:solidFill>
                  <a:srgbClr val="E76F37"/>
                </a:solidFill>
                <a:latin typeface="Calibri"/>
                <a:ea typeface="Calibri"/>
                <a:cs typeface="Calibri"/>
                <a:sym typeface="Calibri"/>
              </a:rPr>
              <a:t>Prompt 6</a:t>
            </a:r>
            <a:endParaRPr sz="1000" b="0" i="0" u="none" strike="noStrike" cap="none">
              <a:solidFill>
                <a:schemeClr val="dk1"/>
              </a:solidFill>
              <a:latin typeface="Calibri"/>
              <a:ea typeface="Calibri"/>
              <a:cs typeface="Calibri"/>
              <a:sym typeface="Calibri"/>
            </a:endParaRPr>
          </a:p>
        </p:txBody>
      </p:sp>
      <p:sp>
        <p:nvSpPr>
          <p:cNvPr id="217" name="Google Shape;217;p7"/>
          <p:cNvSpPr/>
          <p:nvPr/>
        </p:nvSpPr>
        <p:spPr>
          <a:xfrm>
            <a:off x="411480" y="2706624"/>
            <a:ext cx="8229600" cy="80467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300">
                <a:solidFill>
                  <a:srgbClr val="64748B"/>
                </a:solidFill>
                <a:latin typeface="Calibri"/>
                <a:ea typeface="Calibri"/>
                <a:cs typeface="Calibri"/>
                <a:sym typeface="Calibri"/>
              </a:rPr>
              <a:t>Build an order management system where customers can place orders and admins can view them.</a:t>
            </a:r>
            <a:endParaRPr sz="1300">
              <a:solidFill>
                <a:srgbClr val="64748B"/>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a:solidFill>
                  <a:srgbClr val="64748B"/>
                </a:solidFill>
                <a:latin typeface="Calibri"/>
                <a:ea typeface="Calibri"/>
                <a:cs typeface="Calibri"/>
                <a:sym typeface="Calibri"/>
              </a:rPr>
              <a:t>Integrate frontend with backend using fetch API for sending and receiving data.</a:t>
            </a:r>
            <a:endParaRPr sz="1300">
              <a:solidFill>
                <a:srgbClr val="64748B"/>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a:solidFill>
                  <a:srgbClr val="64748B"/>
                </a:solidFill>
                <a:latin typeface="Calibri"/>
                <a:ea typeface="Calibri"/>
                <a:cs typeface="Calibri"/>
                <a:sym typeface="Calibri"/>
              </a:rPr>
              <a:t>Design a responsive dashboard interface with navigation and user-specific features.</a:t>
            </a:r>
            <a:endParaRPr sz="1300">
              <a:solidFill>
                <a:srgbClr val="64748B"/>
              </a:solidFill>
              <a:latin typeface="Calibri"/>
              <a:ea typeface="Calibri"/>
              <a:cs typeface="Calibri"/>
              <a:sym typeface="Calibri"/>
            </a:endParaRPr>
          </a:p>
          <a:p>
            <a:pPr marL="0" marR="0" lvl="0" indent="0" algn="l" rtl="0">
              <a:spcBef>
                <a:spcPts val="0"/>
              </a:spcBef>
              <a:spcAft>
                <a:spcPts val="0"/>
              </a:spcAft>
              <a:buClr>
                <a:srgbClr val="64748B"/>
              </a:buClr>
              <a:buSzPts val="1100"/>
              <a:buFont typeface="Calibri"/>
              <a:buNone/>
            </a:pPr>
            <a:endParaRPr sz="1300">
              <a:solidFill>
                <a:srgbClr val="64748B"/>
              </a:solidFill>
              <a:latin typeface="Calibri"/>
              <a:ea typeface="Calibri"/>
              <a:cs typeface="Calibri"/>
              <a:sym typeface="Calibri"/>
            </a:endParaRPr>
          </a:p>
        </p:txBody>
      </p:sp>
      <p:sp>
        <p:nvSpPr>
          <p:cNvPr id="218" name="Google Shape;218;p7"/>
          <p:cNvSpPr/>
          <p:nvPr/>
        </p:nvSpPr>
        <p:spPr>
          <a:xfrm>
            <a:off x="274320" y="3712464"/>
            <a:ext cx="8595360" cy="123444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274320" y="3712464"/>
            <a:ext cx="64008" cy="1234440"/>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411480" y="3776472"/>
            <a:ext cx="10972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1000"/>
              <a:buFont typeface="Calibri"/>
              <a:buNone/>
            </a:pPr>
            <a:r>
              <a:rPr lang="en-US" sz="1000" b="1" i="0" u="none" strike="noStrike" cap="none">
                <a:solidFill>
                  <a:srgbClr val="E76F37"/>
                </a:solidFill>
                <a:latin typeface="Calibri"/>
                <a:ea typeface="Calibri"/>
                <a:cs typeface="Calibri"/>
                <a:sym typeface="Calibri"/>
              </a:rPr>
              <a:t>Prompt 7</a:t>
            </a:r>
            <a:endParaRPr sz="1000" b="0" i="0" u="none" strike="noStrike" cap="none">
              <a:solidFill>
                <a:schemeClr val="dk1"/>
              </a:solidFill>
              <a:latin typeface="Calibri"/>
              <a:ea typeface="Calibri"/>
              <a:cs typeface="Calibri"/>
              <a:sym typeface="Calibri"/>
            </a:endParaRPr>
          </a:p>
        </p:txBody>
      </p:sp>
      <p:sp>
        <p:nvSpPr>
          <p:cNvPr id="221" name="Google Shape;221;p7"/>
          <p:cNvSpPr/>
          <p:nvPr/>
        </p:nvSpPr>
        <p:spPr>
          <a:xfrm>
            <a:off x="411480" y="4059936"/>
            <a:ext cx="8229600" cy="80467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300">
                <a:solidFill>
                  <a:srgbClr val="64748B"/>
                </a:solidFill>
                <a:latin typeface="Calibri"/>
                <a:ea typeface="Calibri"/>
                <a:cs typeface="Calibri"/>
                <a:sym typeface="Calibri"/>
              </a:rPr>
              <a:t>Implement image upload functionality for food items using multer.</a:t>
            </a:r>
            <a:endParaRPr sz="1300">
              <a:solidFill>
                <a:srgbClr val="64748B"/>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a:solidFill>
                  <a:srgbClr val="64748B"/>
                </a:solidFill>
                <a:latin typeface="Calibri"/>
                <a:ea typeface="Calibri"/>
                <a:cs typeface="Calibri"/>
                <a:sym typeface="Calibri"/>
              </a:rPr>
              <a:t>Store and retrieve data efficiently using MongoDB and Mongoose schemas.</a:t>
            </a:r>
            <a:endParaRPr sz="1300">
              <a:solidFill>
                <a:srgbClr val="64748B"/>
              </a:solidFill>
              <a:latin typeface="Calibri"/>
              <a:ea typeface="Calibri"/>
              <a:cs typeface="Calibri"/>
              <a:sym typeface="Calibri"/>
            </a:endParaRPr>
          </a:p>
          <a:p>
            <a:pPr marL="0" marR="0" lvl="0" indent="0" algn="l" rtl="0">
              <a:spcBef>
                <a:spcPts val="0"/>
              </a:spcBef>
              <a:spcAft>
                <a:spcPts val="0"/>
              </a:spcAft>
              <a:buClr>
                <a:srgbClr val="64748B"/>
              </a:buClr>
              <a:buSzPts val="1100"/>
              <a:buFont typeface="Calibri"/>
              <a:buNone/>
            </a:pPr>
            <a:endParaRPr sz="1300">
              <a:solidFill>
                <a:srgbClr val="64748B"/>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Shape 226"/>
        <p:cNvGrpSpPr/>
        <p:nvPr/>
      </p:nvGrpSpPr>
      <p:grpSpPr>
        <a:xfrm>
          <a:off x="0" y="0"/>
          <a:ext cx="0" cy="0"/>
          <a:chOff x="0" y="0"/>
          <a:chExt cx="0" cy="0"/>
        </a:xfrm>
      </p:grpSpPr>
      <p:sp>
        <p:nvSpPr>
          <p:cNvPr id="227" name="Google Shape;227;p8"/>
          <p:cNvSpPr/>
          <p:nvPr/>
        </p:nvSpPr>
        <p:spPr>
          <a:xfrm>
            <a:off x="0" y="0"/>
            <a:ext cx="9144000" cy="777240"/>
          </a:xfrm>
          <a:prstGeom prst="rect">
            <a:avLst/>
          </a:prstGeom>
          <a:solidFill>
            <a:srgbClr val="2C3E50"/>
          </a:solidFill>
          <a:ln w="12700" cap="flat" cmpd="sng">
            <a:solidFill>
              <a:srgbClr val="2C3E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07</a:t>
            </a:r>
            <a:endParaRPr sz="2800" b="0" i="0" u="none" strike="noStrike" cap="none">
              <a:solidFill>
                <a:schemeClr val="dk1"/>
              </a:solidFill>
              <a:latin typeface="Calibri"/>
              <a:ea typeface="Calibri"/>
              <a:cs typeface="Calibri"/>
              <a:sym typeface="Calibri"/>
            </a:endParaRPr>
          </a:p>
        </p:txBody>
      </p:sp>
      <p:sp>
        <p:nvSpPr>
          <p:cNvPr id="230" name="Google Shape;230;p8"/>
          <p:cNvSpPr/>
          <p:nvPr/>
        </p:nvSpPr>
        <p:spPr>
          <a:xfrm>
            <a:off x="365760" y="137160"/>
            <a:ext cx="6400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Application Workflow</a:t>
            </a:r>
            <a:endParaRPr sz="2600" b="0" i="0" u="none" strike="noStrike" cap="none">
              <a:solidFill>
                <a:schemeClr val="dk1"/>
              </a:solidFill>
              <a:latin typeface="Calibri"/>
              <a:ea typeface="Calibri"/>
              <a:cs typeface="Calibri"/>
              <a:sym typeface="Calibri"/>
            </a:endParaRPr>
          </a:p>
        </p:txBody>
      </p:sp>
      <p:sp>
        <p:nvSpPr>
          <p:cNvPr id="231" name="Google Shape;231;p8"/>
          <p:cNvSpPr/>
          <p:nvPr/>
        </p:nvSpPr>
        <p:spPr>
          <a:xfrm>
            <a:off x="182880" y="960120"/>
            <a:ext cx="1645920" cy="41148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228600" y="1001268"/>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User Visits Site</a:t>
            </a:r>
            <a:endParaRPr sz="1000" b="0" i="0" u="none" strike="noStrike" cap="none">
              <a:solidFill>
                <a:schemeClr val="dk1"/>
              </a:solidFill>
              <a:latin typeface="Calibri"/>
              <a:ea typeface="Calibri"/>
              <a:cs typeface="Calibri"/>
              <a:sym typeface="Calibri"/>
            </a:endParaRPr>
          </a:p>
        </p:txBody>
      </p:sp>
      <p:cxnSp>
        <p:nvCxnSpPr>
          <p:cNvPr id="233" name="Google Shape;233;p8"/>
          <p:cNvCxnSpPr/>
          <p:nvPr/>
        </p:nvCxnSpPr>
        <p:spPr>
          <a:xfrm>
            <a:off x="1005840" y="1371600"/>
            <a:ext cx="0" cy="320040"/>
          </a:xfrm>
          <a:prstGeom prst="straightConnector1">
            <a:avLst/>
          </a:prstGeom>
          <a:noFill/>
          <a:ln w="19050" cap="flat" cmpd="sng">
            <a:solidFill>
              <a:srgbClr val="E76F37"/>
            </a:solidFill>
            <a:prstDash val="solid"/>
            <a:round/>
            <a:headEnd type="none" w="sm" len="sm"/>
            <a:tailEnd type="none" w="sm" len="sm"/>
          </a:ln>
        </p:spPr>
      </p:cxnSp>
      <p:sp>
        <p:nvSpPr>
          <p:cNvPr id="234" name="Google Shape;234;p8"/>
          <p:cNvSpPr/>
          <p:nvPr/>
        </p:nvSpPr>
        <p:spPr>
          <a:xfrm>
            <a:off x="182880" y="1691640"/>
            <a:ext cx="1645920" cy="411480"/>
          </a:xfrm>
          <a:prstGeom prst="rect">
            <a:avLst/>
          </a:prstGeom>
          <a:solidFill>
            <a:srgbClr val="E76F37"/>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228600" y="1732788"/>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Login / Register</a:t>
            </a:r>
            <a:endParaRPr sz="1000" b="0" i="0" u="none" strike="noStrike" cap="none">
              <a:solidFill>
                <a:schemeClr val="dk1"/>
              </a:solidFill>
              <a:latin typeface="Calibri"/>
              <a:ea typeface="Calibri"/>
              <a:cs typeface="Calibri"/>
              <a:sym typeface="Calibri"/>
            </a:endParaRPr>
          </a:p>
        </p:txBody>
      </p:sp>
      <p:cxnSp>
        <p:nvCxnSpPr>
          <p:cNvPr id="236" name="Google Shape;236;p8"/>
          <p:cNvCxnSpPr/>
          <p:nvPr/>
        </p:nvCxnSpPr>
        <p:spPr>
          <a:xfrm>
            <a:off x="1005840" y="2103120"/>
            <a:ext cx="0" cy="320040"/>
          </a:xfrm>
          <a:prstGeom prst="straightConnector1">
            <a:avLst/>
          </a:prstGeom>
          <a:noFill/>
          <a:ln w="19050" cap="flat" cmpd="sng">
            <a:solidFill>
              <a:srgbClr val="E76F37"/>
            </a:solidFill>
            <a:prstDash val="solid"/>
            <a:round/>
            <a:headEnd type="none" w="sm" len="sm"/>
            <a:tailEnd type="none" w="sm" len="sm"/>
          </a:ln>
        </p:spPr>
      </p:cxnSp>
      <p:sp>
        <p:nvSpPr>
          <p:cNvPr id="237" name="Google Shape;237;p8"/>
          <p:cNvSpPr/>
          <p:nvPr/>
        </p:nvSpPr>
        <p:spPr>
          <a:xfrm>
            <a:off x="182880" y="2423160"/>
            <a:ext cx="1645920" cy="41148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228600" y="2464308"/>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Session Created</a:t>
            </a:r>
            <a:endParaRPr sz="1000" b="0" i="0" u="none" strike="noStrike" cap="none">
              <a:solidFill>
                <a:schemeClr val="dk1"/>
              </a:solidFill>
              <a:latin typeface="Calibri"/>
              <a:ea typeface="Calibri"/>
              <a:cs typeface="Calibri"/>
              <a:sym typeface="Calibri"/>
            </a:endParaRPr>
          </a:p>
        </p:txBody>
      </p:sp>
      <p:cxnSp>
        <p:nvCxnSpPr>
          <p:cNvPr id="239" name="Google Shape;239;p8"/>
          <p:cNvCxnSpPr/>
          <p:nvPr/>
        </p:nvCxnSpPr>
        <p:spPr>
          <a:xfrm>
            <a:off x="1005840" y="2834640"/>
            <a:ext cx="0" cy="320040"/>
          </a:xfrm>
          <a:prstGeom prst="straightConnector1">
            <a:avLst/>
          </a:prstGeom>
          <a:noFill/>
          <a:ln w="19050" cap="flat" cmpd="sng">
            <a:solidFill>
              <a:srgbClr val="E76F37"/>
            </a:solidFill>
            <a:prstDash val="solid"/>
            <a:round/>
            <a:headEnd type="none" w="sm" len="sm"/>
            <a:tailEnd type="none" w="sm" len="sm"/>
          </a:ln>
        </p:spPr>
      </p:cxnSp>
      <p:sp>
        <p:nvSpPr>
          <p:cNvPr id="240" name="Google Shape;240;p8"/>
          <p:cNvSpPr/>
          <p:nvPr/>
        </p:nvSpPr>
        <p:spPr>
          <a:xfrm>
            <a:off x="182880" y="3154680"/>
            <a:ext cx="1645920" cy="41148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8"/>
          <p:cNvSpPr/>
          <p:nvPr/>
        </p:nvSpPr>
        <p:spPr>
          <a:xfrm>
            <a:off x="228600" y="3195828"/>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Role Check</a:t>
            </a:r>
            <a:endParaRPr sz="1000" b="0" i="0" u="none" strike="noStrike" cap="none">
              <a:solidFill>
                <a:schemeClr val="dk1"/>
              </a:solidFill>
              <a:latin typeface="Calibri"/>
              <a:ea typeface="Calibri"/>
              <a:cs typeface="Calibri"/>
              <a:sym typeface="Calibri"/>
            </a:endParaRPr>
          </a:p>
        </p:txBody>
      </p:sp>
      <p:sp>
        <p:nvSpPr>
          <p:cNvPr id="242" name="Google Shape;242;p8"/>
          <p:cNvSpPr/>
          <p:nvPr/>
        </p:nvSpPr>
        <p:spPr>
          <a:xfrm>
            <a:off x="2103115" y="3376845"/>
            <a:ext cx="6402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1" i="0" u="none" strike="noStrike" cap="none">
                <a:solidFill>
                  <a:srgbClr val="E76F37"/>
                </a:solidFill>
                <a:latin typeface="Calibri"/>
                <a:ea typeface="Calibri"/>
                <a:cs typeface="Calibri"/>
                <a:sym typeface="Calibri"/>
              </a:rPr>
              <a:t>Admin</a:t>
            </a:r>
            <a:endParaRPr sz="900" b="0" i="0" u="none" strike="noStrike" cap="none">
              <a:solidFill>
                <a:schemeClr val="dk1"/>
              </a:solidFill>
              <a:latin typeface="Calibri"/>
              <a:ea typeface="Calibri"/>
              <a:cs typeface="Calibri"/>
              <a:sym typeface="Calibri"/>
            </a:endParaRPr>
          </a:p>
        </p:txBody>
      </p:sp>
      <p:sp>
        <p:nvSpPr>
          <p:cNvPr id="243" name="Google Shape;243;p8"/>
          <p:cNvSpPr/>
          <p:nvPr/>
        </p:nvSpPr>
        <p:spPr>
          <a:xfrm>
            <a:off x="4983500" y="3282732"/>
            <a:ext cx="914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498DB"/>
              </a:buClr>
              <a:buSzPts val="900"/>
              <a:buFont typeface="Calibri"/>
              <a:buNone/>
            </a:pPr>
            <a:r>
              <a:rPr lang="en-US" sz="900" b="1" i="0" u="none" strike="noStrike" cap="none">
                <a:solidFill>
                  <a:srgbClr val="3498DB"/>
                </a:solidFill>
                <a:latin typeface="Calibri"/>
                <a:ea typeface="Calibri"/>
                <a:cs typeface="Calibri"/>
                <a:sym typeface="Calibri"/>
              </a:rPr>
              <a:t>Customer</a:t>
            </a:r>
            <a:endParaRPr sz="900" b="0" i="0" u="none" strike="noStrike" cap="none">
              <a:solidFill>
                <a:schemeClr val="dk1"/>
              </a:solidFill>
              <a:latin typeface="Calibri"/>
              <a:ea typeface="Calibri"/>
              <a:cs typeface="Calibri"/>
              <a:sym typeface="Calibri"/>
            </a:endParaRPr>
          </a:p>
        </p:txBody>
      </p:sp>
      <p:cxnSp>
        <p:nvCxnSpPr>
          <p:cNvPr id="244" name="Google Shape;244;p8"/>
          <p:cNvCxnSpPr/>
          <p:nvPr/>
        </p:nvCxnSpPr>
        <p:spPr>
          <a:xfrm>
            <a:off x="1874638" y="3298173"/>
            <a:ext cx="731400" cy="0"/>
          </a:xfrm>
          <a:prstGeom prst="straightConnector1">
            <a:avLst/>
          </a:prstGeom>
          <a:noFill/>
          <a:ln w="19050" cap="flat" cmpd="sng">
            <a:solidFill>
              <a:srgbClr val="E76F37"/>
            </a:solidFill>
            <a:prstDash val="solid"/>
            <a:round/>
            <a:headEnd type="none" w="sm" len="sm"/>
            <a:tailEnd type="none" w="sm" len="sm"/>
          </a:ln>
        </p:spPr>
      </p:cxnSp>
      <p:sp>
        <p:nvSpPr>
          <p:cNvPr id="245" name="Google Shape;245;p8"/>
          <p:cNvSpPr/>
          <p:nvPr/>
        </p:nvSpPr>
        <p:spPr>
          <a:xfrm>
            <a:off x="2560320" y="3154680"/>
            <a:ext cx="1645920" cy="41148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a:off x="2606040" y="3195828"/>
            <a:ext cx="15546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Admin Dashboard</a:t>
            </a:r>
            <a:endParaRPr sz="1000" b="0" i="0" u="none" strike="noStrike" cap="none">
              <a:solidFill>
                <a:schemeClr val="dk1"/>
              </a:solidFill>
              <a:latin typeface="Calibri"/>
              <a:ea typeface="Calibri"/>
              <a:cs typeface="Calibri"/>
              <a:sym typeface="Calibri"/>
            </a:endParaRPr>
          </a:p>
        </p:txBody>
      </p:sp>
      <p:cxnSp>
        <p:nvCxnSpPr>
          <p:cNvPr id="247" name="Google Shape;247;p8"/>
          <p:cNvCxnSpPr/>
          <p:nvPr/>
        </p:nvCxnSpPr>
        <p:spPr>
          <a:xfrm>
            <a:off x="3383280" y="3566160"/>
            <a:ext cx="0" cy="320040"/>
          </a:xfrm>
          <a:prstGeom prst="straightConnector1">
            <a:avLst/>
          </a:prstGeom>
          <a:noFill/>
          <a:ln w="19050" cap="flat" cmpd="sng">
            <a:solidFill>
              <a:srgbClr val="E76F37"/>
            </a:solidFill>
            <a:prstDash val="solid"/>
            <a:round/>
            <a:headEnd type="none" w="sm" len="sm"/>
            <a:tailEnd type="none" w="sm" len="sm"/>
          </a:ln>
        </p:spPr>
      </p:cxnSp>
      <p:sp>
        <p:nvSpPr>
          <p:cNvPr id="248" name="Google Shape;248;p8"/>
          <p:cNvSpPr/>
          <p:nvPr/>
        </p:nvSpPr>
        <p:spPr>
          <a:xfrm>
            <a:off x="2560320" y="3886200"/>
            <a:ext cx="1645920" cy="411480"/>
          </a:xfrm>
          <a:prstGeom prst="rect">
            <a:avLst/>
          </a:prstGeom>
          <a:solidFill>
            <a:srgbClr val="C85A24"/>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2606040" y="3927348"/>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Manage Menu / Orders / Users</a:t>
            </a:r>
            <a:endParaRPr sz="1000" b="0" i="0" u="none" strike="noStrike" cap="none">
              <a:solidFill>
                <a:schemeClr val="dk1"/>
              </a:solidFill>
              <a:latin typeface="Calibri"/>
              <a:ea typeface="Calibri"/>
              <a:cs typeface="Calibri"/>
              <a:sym typeface="Calibri"/>
            </a:endParaRPr>
          </a:p>
        </p:txBody>
      </p:sp>
      <p:cxnSp>
        <p:nvCxnSpPr>
          <p:cNvPr id="250" name="Google Shape;250;p8"/>
          <p:cNvCxnSpPr/>
          <p:nvPr/>
        </p:nvCxnSpPr>
        <p:spPr>
          <a:xfrm>
            <a:off x="1828800" y="3096073"/>
            <a:ext cx="3657600" cy="0"/>
          </a:xfrm>
          <a:prstGeom prst="straightConnector1">
            <a:avLst/>
          </a:prstGeom>
          <a:noFill/>
          <a:ln w="19050" cap="flat" cmpd="sng">
            <a:solidFill>
              <a:srgbClr val="E76F37"/>
            </a:solidFill>
            <a:prstDash val="solid"/>
            <a:round/>
            <a:headEnd type="none" w="sm" len="sm"/>
            <a:tailEnd type="none" w="sm" len="sm"/>
          </a:ln>
        </p:spPr>
      </p:cxnSp>
      <p:sp>
        <p:nvSpPr>
          <p:cNvPr id="251" name="Google Shape;251;p8"/>
          <p:cNvSpPr/>
          <p:nvPr/>
        </p:nvSpPr>
        <p:spPr>
          <a:xfrm>
            <a:off x="5486400" y="3154680"/>
            <a:ext cx="1645920" cy="411480"/>
          </a:xfrm>
          <a:prstGeom prst="rect">
            <a:avLst/>
          </a:prstGeom>
          <a:solidFill>
            <a:srgbClr val="2C3E5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5532120" y="3195828"/>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Customer Dashboard</a:t>
            </a:r>
            <a:endParaRPr sz="1000" b="0" i="0" u="none" strike="noStrike" cap="none">
              <a:solidFill>
                <a:schemeClr val="dk1"/>
              </a:solidFill>
              <a:latin typeface="Calibri"/>
              <a:ea typeface="Calibri"/>
              <a:cs typeface="Calibri"/>
              <a:sym typeface="Calibri"/>
            </a:endParaRPr>
          </a:p>
        </p:txBody>
      </p:sp>
      <p:cxnSp>
        <p:nvCxnSpPr>
          <p:cNvPr id="253" name="Google Shape;253;p8"/>
          <p:cNvCxnSpPr/>
          <p:nvPr/>
        </p:nvCxnSpPr>
        <p:spPr>
          <a:xfrm>
            <a:off x="6309360" y="3566160"/>
            <a:ext cx="0" cy="320040"/>
          </a:xfrm>
          <a:prstGeom prst="straightConnector1">
            <a:avLst/>
          </a:prstGeom>
          <a:noFill/>
          <a:ln w="19050" cap="flat" cmpd="sng">
            <a:solidFill>
              <a:srgbClr val="E76F37"/>
            </a:solidFill>
            <a:prstDash val="solid"/>
            <a:round/>
            <a:headEnd type="none" w="sm" len="sm"/>
            <a:tailEnd type="none" w="sm" len="sm"/>
          </a:ln>
        </p:spPr>
      </p:cxnSp>
      <p:sp>
        <p:nvSpPr>
          <p:cNvPr id="254" name="Google Shape;254;p8"/>
          <p:cNvSpPr/>
          <p:nvPr/>
        </p:nvSpPr>
        <p:spPr>
          <a:xfrm>
            <a:off x="5486400" y="3886200"/>
            <a:ext cx="1645920" cy="411480"/>
          </a:xfrm>
          <a:prstGeom prst="rect">
            <a:avLst/>
          </a:prstGeom>
          <a:solidFill>
            <a:srgbClr val="3498DB"/>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5532120" y="3927348"/>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Browse Menu &amp; Place Order</a:t>
            </a:r>
            <a:endParaRPr sz="1000" b="0" i="0" u="none" strike="noStrike" cap="none">
              <a:solidFill>
                <a:schemeClr val="dk1"/>
              </a:solidFill>
              <a:latin typeface="Calibri"/>
              <a:ea typeface="Calibri"/>
              <a:cs typeface="Calibri"/>
              <a:sym typeface="Calibri"/>
            </a:endParaRPr>
          </a:p>
        </p:txBody>
      </p:sp>
      <p:sp>
        <p:nvSpPr>
          <p:cNvPr id="256" name="Google Shape;256;p8"/>
          <p:cNvSpPr/>
          <p:nvPr/>
        </p:nvSpPr>
        <p:spPr>
          <a:xfrm>
            <a:off x="5737875" y="2057405"/>
            <a:ext cx="1600200" cy="411600"/>
          </a:xfrm>
          <a:prstGeom prst="rect">
            <a:avLst/>
          </a:prstGeom>
          <a:solidFill>
            <a:srgbClr val="27AE60"/>
          </a:solidFill>
          <a:ln w="9525" cap="flat" cmpd="sng">
            <a:solidFill>
              <a:srgbClr val="E76F37"/>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5737870" y="2098553"/>
            <a:ext cx="15087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MongoDB Database</a:t>
            </a:r>
            <a:endParaRPr sz="1000" b="0" i="0" u="none" strike="noStrike" cap="none">
              <a:solidFill>
                <a:schemeClr val="dk1"/>
              </a:solidFill>
              <a:latin typeface="Calibri"/>
              <a:ea typeface="Calibri"/>
              <a:cs typeface="Calibri"/>
              <a:sym typeface="Calibri"/>
            </a:endParaRPr>
          </a:p>
        </p:txBody>
      </p:sp>
      <p:cxnSp>
        <p:nvCxnSpPr>
          <p:cNvPr id="258" name="Google Shape;258;p8"/>
          <p:cNvCxnSpPr/>
          <p:nvPr/>
        </p:nvCxnSpPr>
        <p:spPr>
          <a:xfrm rot="10800000">
            <a:off x="1920200" y="2237573"/>
            <a:ext cx="3749100" cy="0"/>
          </a:xfrm>
          <a:prstGeom prst="straightConnector1">
            <a:avLst/>
          </a:prstGeom>
          <a:noFill/>
          <a:ln w="12700" cap="flat" cmpd="sng">
            <a:solidFill>
              <a:srgbClr val="27AE60"/>
            </a:solidFill>
            <a:prstDash val="dash"/>
            <a:round/>
            <a:headEnd type="none" w="sm" len="sm"/>
            <a:tailEnd type="none" w="sm" len="sm"/>
          </a:ln>
        </p:spPr>
      </p:cxnSp>
      <p:sp>
        <p:nvSpPr>
          <p:cNvPr id="259" name="Google Shape;259;p8"/>
          <p:cNvSpPr/>
          <p:nvPr/>
        </p:nvSpPr>
        <p:spPr>
          <a:xfrm>
            <a:off x="5212085" y="1865313"/>
            <a:ext cx="18288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7AE60"/>
              </a:buClr>
              <a:buSzPts val="800"/>
              <a:buFont typeface="Calibri"/>
              <a:buNone/>
            </a:pPr>
            <a:r>
              <a:rPr lang="en-US" sz="800" b="0" i="0" u="none" strike="noStrike" cap="none">
                <a:solidFill>
                  <a:srgbClr val="27AE60"/>
                </a:solidFill>
                <a:latin typeface="Calibri"/>
                <a:ea typeface="Calibri"/>
                <a:cs typeface="Calibri"/>
                <a:sym typeface="Calibri"/>
              </a:rPr>
              <a:t>Stores all data</a:t>
            </a:r>
            <a:endParaRPr sz="800" b="0" i="0" u="none" strike="noStrike" cap="none">
              <a:solidFill>
                <a:schemeClr val="dk1"/>
              </a:solidFill>
              <a:latin typeface="Calibri"/>
              <a:ea typeface="Calibri"/>
              <a:cs typeface="Calibri"/>
              <a:sym typeface="Calibri"/>
            </a:endParaRPr>
          </a:p>
        </p:txBody>
      </p:sp>
      <p:sp>
        <p:nvSpPr>
          <p:cNvPr id="260" name="Google Shape;260;p8"/>
          <p:cNvSpPr/>
          <p:nvPr/>
        </p:nvSpPr>
        <p:spPr>
          <a:xfrm>
            <a:off x="228600" y="4754880"/>
            <a:ext cx="164592" cy="164592"/>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457200" y="4727448"/>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Auth Layer</a:t>
            </a:r>
            <a:endParaRPr sz="900" b="0" i="0" u="none" strike="noStrike" cap="none">
              <a:solidFill>
                <a:schemeClr val="dk1"/>
              </a:solidFill>
              <a:latin typeface="Calibri"/>
              <a:ea typeface="Calibri"/>
              <a:cs typeface="Calibri"/>
              <a:sym typeface="Calibri"/>
            </a:endParaRPr>
          </a:p>
        </p:txBody>
      </p:sp>
      <p:sp>
        <p:nvSpPr>
          <p:cNvPr id="262" name="Google Shape;262;p8"/>
          <p:cNvSpPr/>
          <p:nvPr/>
        </p:nvSpPr>
        <p:spPr>
          <a:xfrm>
            <a:off x="2423160" y="4754880"/>
            <a:ext cx="164592" cy="164592"/>
          </a:xfrm>
          <a:prstGeom prst="rect">
            <a:avLst/>
          </a:prstGeom>
          <a:solidFill>
            <a:srgbClr val="2C3E50"/>
          </a:solidFill>
          <a:ln w="12700" cap="flat" cmpd="sng">
            <a:solidFill>
              <a:srgbClr val="2C3E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2651760" y="4727448"/>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Logic Layer</a:t>
            </a:r>
            <a:endParaRPr sz="900" b="0" i="0" u="none" strike="noStrike" cap="none">
              <a:solidFill>
                <a:schemeClr val="dk1"/>
              </a:solidFill>
              <a:latin typeface="Calibri"/>
              <a:ea typeface="Calibri"/>
              <a:cs typeface="Calibri"/>
              <a:sym typeface="Calibri"/>
            </a:endParaRPr>
          </a:p>
        </p:txBody>
      </p:sp>
      <p:sp>
        <p:nvSpPr>
          <p:cNvPr id="264" name="Google Shape;264;p8"/>
          <p:cNvSpPr/>
          <p:nvPr/>
        </p:nvSpPr>
        <p:spPr>
          <a:xfrm>
            <a:off x="4617720" y="4754880"/>
            <a:ext cx="164592" cy="164592"/>
          </a:xfrm>
          <a:prstGeom prst="rect">
            <a:avLst/>
          </a:prstGeom>
          <a:solidFill>
            <a:srgbClr val="27AE60"/>
          </a:solidFill>
          <a:ln w="12700" cap="flat" cmpd="sng">
            <a:solidFill>
              <a:srgbClr val="27AE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4846320" y="4727448"/>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Data Layer</a:t>
            </a:r>
            <a:endParaRPr sz="900" b="0" i="0" u="none" strike="noStrike" cap="none">
              <a:solidFill>
                <a:schemeClr val="dk1"/>
              </a:solidFill>
              <a:latin typeface="Calibri"/>
              <a:ea typeface="Calibri"/>
              <a:cs typeface="Calibri"/>
              <a:sym typeface="Calibri"/>
            </a:endParaRPr>
          </a:p>
        </p:txBody>
      </p:sp>
      <p:sp>
        <p:nvSpPr>
          <p:cNvPr id="266" name="Google Shape;266;p8"/>
          <p:cNvSpPr/>
          <p:nvPr/>
        </p:nvSpPr>
        <p:spPr>
          <a:xfrm>
            <a:off x="6812280" y="4754880"/>
            <a:ext cx="164592" cy="164592"/>
          </a:xfrm>
          <a:prstGeom prst="rect">
            <a:avLst/>
          </a:prstGeom>
          <a:solidFill>
            <a:srgbClr val="3498DB"/>
          </a:solidFill>
          <a:ln w="12700" cap="flat" cmpd="sng">
            <a:solidFill>
              <a:srgbClr val="3498D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a:off x="7040880" y="4727448"/>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Customer</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Shape 272"/>
        <p:cNvGrpSpPr/>
        <p:nvPr/>
      </p:nvGrpSpPr>
      <p:grpSpPr>
        <a:xfrm>
          <a:off x="0" y="0"/>
          <a:ext cx="0" cy="0"/>
          <a:chOff x="0" y="0"/>
          <a:chExt cx="0" cy="0"/>
        </a:xfrm>
      </p:grpSpPr>
      <p:sp>
        <p:nvSpPr>
          <p:cNvPr id="273" name="Google Shape;273;p9"/>
          <p:cNvSpPr/>
          <p:nvPr/>
        </p:nvSpPr>
        <p:spPr>
          <a:xfrm>
            <a:off x="0" y="0"/>
            <a:ext cx="9144000" cy="777240"/>
          </a:xfrm>
          <a:prstGeom prst="rect">
            <a:avLst/>
          </a:prstGeom>
          <a:solidFill>
            <a:srgbClr val="1A2332"/>
          </a:solidFill>
          <a:ln w="12700" cap="flat" cmpd="sng">
            <a:solidFill>
              <a:srgbClr val="1A23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9"/>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9"/>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08</a:t>
            </a:r>
            <a:endParaRPr sz="2800" b="0" i="0" u="none" strike="noStrike" cap="none">
              <a:solidFill>
                <a:schemeClr val="dk1"/>
              </a:solidFill>
              <a:latin typeface="Calibri"/>
              <a:ea typeface="Calibri"/>
              <a:cs typeface="Calibri"/>
              <a:sym typeface="Calibri"/>
            </a:endParaRPr>
          </a:p>
        </p:txBody>
      </p:sp>
      <p:sp>
        <p:nvSpPr>
          <p:cNvPr id="276" name="Google Shape;276;p9"/>
          <p:cNvSpPr/>
          <p:nvPr/>
        </p:nvSpPr>
        <p:spPr>
          <a:xfrm>
            <a:off x="365760" y="137160"/>
            <a:ext cx="6400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Front-End Views</a:t>
            </a:r>
            <a:endParaRPr sz="2600" b="0" i="0" u="none" strike="noStrike" cap="none">
              <a:solidFill>
                <a:schemeClr val="dk1"/>
              </a:solidFill>
              <a:latin typeface="Calibri"/>
              <a:ea typeface="Calibri"/>
              <a:cs typeface="Calibri"/>
              <a:sym typeface="Calibri"/>
            </a:endParaRPr>
          </a:p>
        </p:txBody>
      </p:sp>
      <p:sp>
        <p:nvSpPr>
          <p:cNvPr id="277" name="Google Shape;277;p9"/>
          <p:cNvSpPr/>
          <p:nvPr/>
        </p:nvSpPr>
        <p:spPr>
          <a:xfrm>
            <a:off x="274325" y="960130"/>
            <a:ext cx="4160400" cy="38406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9"/>
          <p:cNvSpPr/>
          <p:nvPr/>
        </p:nvSpPr>
        <p:spPr>
          <a:xfrm>
            <a:off x="274320" y="960120"/>
            <a:ext cx="4160520" cy="54864"/>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9"/>
          <p:cNvSpPr/>
          <p:nvPr/>
        </p:nvSpPr>
        <p:spPr>
          <a:xfrm>
            <a:off x="365755" y="1014985"/>
            <a:ext cx="38406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300"/>
              <a:buFont typeface="Georgia"/>
              <a:buNone/>
            </a:pPr>
            <a:r>
              <a:rPr lang="en-US" sz="1300" b="1" i="0" u="none" strike="noStrike" cap="none">
                <a:solidFill>
                  <a:srgbClr val="1A2332"/>
                </a:solidFill>
                <a:latin typeface="Georgia"/>
                <a:ea typeface="Georgia"/>
                <a:cs typeface="Georgia"/>
                <a:sym typeface="Georgia"/>
              </a:rPr>
              <a:t>Login Page</a:t>
            </a:r>
            <a:endParaRPr sz="1300" b="0" i="0" u="none" strike="noStrike" cap="none">
              <a:solidFill>
                <a:schemeClr val="dk1"/>
              </a:solidFill>
              <a:latin typeface="Calibri"/>
              <a:ea typeface="Calibri"/>
              <a:cs typeface="Calibri"/>
              <a:sym typeface="Calibri"/>
            </a:endParaRPr>
          </a:p>
        </p:txBody>
      </p:sp>
      <p:sp>
        <p:nvSpPr>
          <p:cNvPr id="280" name="Google Shape;280;p9"/>
          <p:cNvSpPr/>
          <p:nvPr/>
        </p:nvSpPr>
        <p:spPr>
          <a:xfrm>
            <a:off x="434355" y="4206606"/>
            <a:ext cx="3840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200" b="0" i="0" u="none" strike="noStrike" cap="none">
                <a:solidFill>
                  <a:srgbClr val="64748B"/>
                </a:solidFill>
                <a:latin typeface="Calibri"/>
                <a:ea typeface="Calibri"/>
                <a:cs typeface="Calibri"/>
                <a:sym typeface="Calibri"/>
              </a:rPr>
              <a:t>Email &amp; password login with demo account buttons and animated food icons</a:t>
            </a:r>
            <a:endParaRPr sz="1200" b="0" i="0" u="none" strike="noStrike" cap="none">
              <a:solidFill>
                <a:schemeClr val="dk1"/>
              </a:solidFill>
              <a:latin typeface="Calibri"/>
              <a:ea typeface="Calibri"/>
              <a:cs typeface="Calibri"/>
              <a:sym typeface="Calibri"/>
            </a:endParaRPr>
          </a:p>
        </p:txBody>
      </p:sp>
      <p:sp>
        <p:nvSpPr>
          <p:cNvPr id="281" name="Google Shape;281;p9"/>
          <p:cNvSpPr/>
          <p:nvPr/>
        </p:nvSpPr>
        <p:spPr>
          <a:xfrm>
            <a:off x="4709150" y="960131"/>
            <a:ext cx="4160400" cy="384060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9"/>
          <p:cNvSpPr/>
          <p:nvPr/>
        </p:nvSpPr>
        <p:spPr>
          <a:xfrm>
            <a:off x="4709160" y="960120"/>
            <a:ext cx="4160520" cy="54864"/>
          </a:xfrm>
          <a:prstGeom prst="rect">
            <a:avLst/>
          </a:prstGeom>
          <a:solidFill>
            <a:srgbClr val="3498DB"/>
          </a:solidFill>
          <a:ln w="12700" cap="flat" cmpd="sng">
            <a:solidFill>
              <a:srgbClr val="3498D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9"/>
          <p:cNvSpPr/>
          <p:nvPr/>
        </p:nvSpPr>
        <p:spPr>
          <a:xfrm>
            <a:off x="4846320" y="978435"/>
            <a:ext cx="38406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300"/>
              <a:buFont typeface="Georgia"/>
              <a:buNone/>
            </a:pPr>
            <a:r>
              <a:rPr lang="en-US" sz="1300" b="1" i="0" u="none" strike="noStrike" cap="none">
                <a:solidFill>
                  <a:srgbClr val="1A2332"/>
                </a:solidFill>
                <a:latin typeface="Georgia"/>
                <a:ea typeface="Georgia"/>
                <a:cs typeface="Georgia"/>
                <a:sym typeface="Georgia"/>
              </a:rPr>
              <a:t>Admin Dashboard</a:t>
            </a:r>
            <a:endParaRPr sz="1300" b="0" i="0" u="none" strike="noStrike" cap="none">
              <a:solidFill>
                <a:schemeClr val="dk1"/>
              </a:solidFill>
              <a:latin typeface="Calibri"/>
              <a:ea typeface="Calibri"/>
              <a:cs typeface="Calibri"/>
              <a:sym typeface="Calibri"/>
            </a:endParaRPr>
          </a:p>
        </p:txBody>
      </p:sp>
      <p:sp>
        <p:nvSpPr>
          <p:cNvPr id="284" name="Google Shape;284;p9"/>
          <p:cNvSpPr/>
          <p:nvPr/>
        </p:nvSpPr>
        <p:spPr>
          <a:xfrm>
            <a:off x="4846320" y="4206606"/>
            <a:ext cx="3840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200" b="0" i="0" u="none" strike="noStrike" cap="none">
                <a:solidFill>
                  <a:srgbClr val="64748B"/>
                </a:solidFill>
                <a:latin typeface="Calibri"/>
                <a:ea typeface="Calibri"/>
                <a:cs typeface="Calibri"/>
                <a:sym typeface="Calibri"/>
              </a:rPr>
              <a:t>Stats cards (foods/orders/users/revenue), Bar chart, Doughnut chart, recent orders table</a:t>
            </a:r>
            <a:endParaRPr sz="1200" b="0" i="0" u="none" strike="noStrike" cap="none">
              <a:solidFill>
                <a:schemeClr val="dk1"/>
              </a:solidFill>
              <a:latin typeface="Calibri"/>
              <a:ea typeface="Calibri"/>
              <a:cs typeface="Calibri"/>
              <a:sym typeface="Calibri"/>
            </a:endParaRPr>
          </a:p>
        </p:txBody>
      </p:sp>
      <p:pic>
        <p:nvPicPr>
          <p:cNvPr id="285" name="Google Shape;285;p9"/>
          <p:cNvPicPr preferRelativeResize="0"/>
          <p:nvPr/>
        </p:nvPicPr>
        <p:blipFill>
          <a:blip r:embed="rId3">
            <a:alphaModFix/>
          </a:blip>
          <a:stretch>
            <a:fillRect/>
          </a:stretch>
        </p:blipFill>
        <p:spPr>
          <a:xfrm>
            <a:off x="341825" y="1335075"/>
            <a:ext cx="4014927" cy="2801501"/>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60"/>
              </a:srgbClr>
            </a:outerShdw>
          </a:effectLst>
        </p:spPr>
      </p:pic>
      <p:pic>
        <p:nvPicPr>
          <p:cNvPr id="286" name="Google Shape;286;p9"/>
          <p:cNvPicPr preferRelativeResize="0"/>
          <p:nvPr/>
        </p:nvPicPr>
        <p:blipFill>
          <a:blip r:embed="rId4">
            <a:alphaModFix/>
          </a:blip>
          <a:stretch>
            <a:fillRect/>
          </a:stretch>
        </p:blipFill>
        <p:spPr>
          <a:xfrm>
            <a:off x="4796250" y="1304925"/>
            <a:ext cx="4014926" cy="2801501"/>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6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Shape 291"/>
        <p:cNvGrpSpPr/>
        <p:nvPr/>
      </p:nvGrpSpPr>
      <p:grpSpPr>
        <a:xfrm>
          <a:off x="0" y="0"/>
          <a:ext cx="0" cy="0"/>
          <a:chOff x="0" y="0"/>
          <a:chExt cx="0" cy="0"/>
        </a:xfrm>
      </p:grpSpPr>
      <p:sp>
        <p:nvSpPr>
          <p:cNvPr id="292" name="Google Shape;292;p10"/>
          <p:cNvSpPr/>
          <p:nvPr/>
        </p:nvSpPr>
        <p:spPr>
          <a:xfrm>
            <a:off x="0" y="0"/>
            <a:ext cx="9144000" cy="777240"/>
          </a:xfrm>
          <a:prstGeom prst="rect">
            <a:avLst/>
          </a:prstGeom>
          <a:solidFill>
            <a:srgbClr val="2C3E50"/>
          </a:solidFill>
          <a:ln w="12700" cap="flat" cmpd="sng">
            <a:solidFill>
              <a:srgbClr val="2C3E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0"/>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0"/>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09</a:t>
            </a:r>
            <a:endParaRPr sz="2800" b="0" i="0" u="none" strike="noStrike" cap="none">
              <a:solidFill>
                <a:schemeClr val="dk1"/>
              </a:solidFill>
              <a:latin typeface="Calibri"/>
              <a:ea typeface="Calibri"/>
              <a:cs typeface="Calibri"/>
              <a:sym typeface="Calibri"/>
            </a:endParaRPr>
          </a:p>
        </p:txBody>
      </p:sp>
      <p:sp>
        <p:nvSpPr>
          <p:cNvPr id="295" name="Google Shape;295;p10"/>
          <p:cNvSpPr/>
          <p:nvPr/>
        </p:nvSpPr>
        <p:spPr>
          <a:xfrm>
            <a:off x="365760" y="137160"/>
            <a:ext cx="73152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Georgia"/>
              <a:buNone/>
            </a:pPr>
            <a:r>
              <a:rPr lang="en-US" sz="2400" b="1" i="0" u="none" strike="noStrike" cap="none">
                <a:solidFill>
                  <a:srgbClr val="FFFFFF"/>
                </a:solidFill>
                <a:latin typeface="Georgia"/>
                <a:ea typeface="Georgia"/>
                <a:cs typeface="Georgia"/>
                <a:sym typeface="Georgia"/>
              </a:rPr>
              <a:t>Proof of Prompts Generating Code</a:t>
            </a:r>
            <a:endParaRPr sz="2400" b="0" i="0" u="none" strike="noStrike" cap="none">
              <a:solidFill>
                <a:schemeClr val="dk1"/>
              </a:solidFill>
              <a:latin typeface="Calibri"/>
              <a:ea typeface="Calibri"/>
              <a:cs typeface="Calibri"/>
              <a:sym typeface="Calibri"/>
            </a:endParaRPr>
          </a:p>
        </p:txBody>
      </p:sp>
      <p:pic>
        <p:nvPicPr>
          <p:cNvPr id="296" name="Google Shape;296;p10"/>
          <p:cNvPicPr preferRelativeResize="0"/>
          <p:nvPr/>
        </p:nvPicPr>
        <p:blipFill>
          <a:blip r:embed="rId3">
            <a:alphaModFix/>
          </a:blip>
          <a:stretch>
            <a:fillRect/>
          </a:stretch>
        </p:blipFill>
        <p:spPr>
          <a:xfrm>
            <a:off x="102900" y="919423"/>
            <a:ext cx="2454921" cy="3997452"/>
          </a:xfrm>
          <a:prstGeom prst="rect">
            <a:avLst/>
          </a:prstGeom>
          <a:noFill/>
          <a:ln>
            <a:noFill/>
          </a:ln>
        </p:spPr>
      </p:pic>
      <p:pic>
        <p:nvPicPr>
          <p:cNvPr id="297" name="Google Shape;297;p10"/>
          <p:cNvPicPr preferRelativeResize="0"/>
          <p:nvPr/>
        </p:nvPicPr>
        <p:blipFill>
          <a:blip r:embed="rId4">
            <a:alphaModFix/>
          </a:blip>
          <a:stretch>
            <a:fillRect/>
          </a:stretch>
        </p:blipFill>
        <p:spPr>
          <a:xfrm>
            <a:off x="2710225" y="993651"/>
            <a:ext cx="6281375" cy="39232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Shape 302"/>
        <p:cNvGrpSpPr/>
        <p:nvPr/>
      </p:nvGrpSpPr>
      <p:grpSpPr>
        <a:xfrm>
          <a:off x="0" y="0"/>
          <a:ext cx="0" cy="0"/>
          <a:chOff x="0" y="0"/>
          <a:chExt cx="0" cy="0"/>
        </a:xfrm>
      </p:grpSpPr>
      <p:sp>
        <p:nvSpPr>
          <p:cNvPr id="303" name="Google Shape;303;p11"/>
          <p:cNvSpPr/>
          <p:nvPr/>
        </p:nvSpPr>
        <p:spPr>
          <a:xfrm>
            <a:off x="0" y="0"/>
            <a:ext cx="9144000" cy="777240"/>
          </a:xfrm>
          <a:prstGeom prst="rect">
            <a:avLst/>
          </a:prstGeom>
          <a:solidFill>
            <a:srgbClr val="1A2332"/>
          </a:solidFill>
          <a:ln w="12700" cap="flat" cmpd="sng">
            <a:solidFill>
              <a:srgbClr val="1A23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a:off x="0" y="777240"/>
            <a:ext cx="9144000" cy="6400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a:off x="8046720" y="91440"/>
            <a:ext cx="82296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76F37"/>
              </a:buClr>
              <a:buSzPts val="2800"/>
              <a:buFont typeface="Georgia"/>
              <a:buNone/>
            </a:pPr>
            <a:r>
              <a:rPr lang="en-US" sz="2800" b="1" i="0" u="none" strike="noStrike" cap="none">
                <a:solidFill>
                  <a:srgbClr val="E76F37"/>
                </a:solidFill>
                <a:latin typeface="Georgia"/>
                <a:ea typeface="Georgia"/>
                <a:cs typeface="Georgia"/>
                <a:sym typeface="Georgia"/>
              </a:rPr>
              <a:t>10</a:t>
            </a:r>
            <a:endParaRPr sz="2800" b="0" i="0" u="none" strike="noStrike" cap="none">
              <a:solidFill>
                <a:schemeClr val="dk1"/>
              </a:solidFill>
              <a:latin typeface="Calibri"/>
              <a:ea typeface="Calibri"/>
              <a:cs typeface="Calibri"/>
              <a:sym typeface="Calibri"/>
            </a:endParaRPr>
          </a:p>
        </p:txBody>
      </p:sp>
      <p:sp>
        <p:nvSpPr>
          <p:cNvPr id="306" name="Google Shape;306;p11"/>
          <p:cNvSpPr/>
          <p:nvPr/>
        </p:nvSpPr>
        <p:spPr>
          <a:xfrm>
            <a:off x="365760" y="137160"/>
            <a:ext cx="64008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References</a:t>
            </a:r>
            <a:endParaRPr sz="2600" b="0" i="0" u="none" strike="noStrike" cap="none">
              <a:solidFill>
                <a:schemeClr val="dk1"/>
              </a:solidFill>
              <a:latin typeface="Calibri"/>
              <a:ea typeface="Calibri"/>
              <a:cs typeface="Calibri"/>
              <a:sym typeface="Calibri"/>
            </a:endParaRPr>
          </a:p>
        </p:txBody>
      </p:sp>
      <p:sp>
        <p:nvSpPr>
          <p:cNvPr id="307" name="Google Shape;307;p11"/>
          <p:cNvSpPr/>
          <p:nvPr/>
        </p:nvSpPr>
        <p:spPr>
          <a:xfrm>
            <a:off x="274320" y="987552"/>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a:off x="274320" y="987552"/>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411480" y="1042416"/>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[1] Claude AI by Anthropic</a:t>
            </a:r>
            <a:endParaRPr sz="1050" b="0" i="0" u="none" strike="noStrike" cap="none">
              <a:solidFill>
                <a:schemeClr val="dk1"/>
              </a:solidFill>
              <a:latin typeface="Calibri"/>
              <a:ea typeface="Calibri"/>
              <a:cs typeface="Calibri"/>
              <a:sym typeface="Calibri"/>
            </a:endParaRPr>
          </a:p>
        </p:txBody>
      </p:sp>
      <p:sp>
        <p:nvSpPr>
          <p:cNvPr id="310" name="Google Shape;310;p11"/>
          <p:cNvSpPr/>
          <p:nvPr/>
        </p:nvSpPr>
        <p:spPr>
          <a:xfrm>
            <a:off x="411480" y="1298448"/>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https://claude.ai</a:t>
            </a:r>
            <a:endParaRPr sz="900" b="0" i="0" u="none" strike="noStrike" cap="none">
              <a:solidFill>
                <a:schemeClr val="dk1"/>
              </a:solidFill>
              <a:latin typeface="Calibri"/>
              <a:ea typeface="Calibri"/>
              <a:cs typeface="Calibri"/>
              <a:sym typeface="Calibri"/>
            </a:endParaRPr>
          </a:p>
        </p:txBody>
      </p:sp>
      <p:sp>
        <p:nvSpPr>
          <p:cNvPr id="311" name="Google Shape;311;p11"/>
          <p:cNvSpPr/>
          <p:nvPr/>
        </p:nvSpPr>
        <p:spPr>
          <a:xfrm>
            <a:off x="411480" y="1490472"/>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Primary AI tool used to generate all source code via prompt engineering</a:t>
            </a:r>
            <a:endParaRPr sz="900" b="0" i="0" u="none" strike="noStrike" cap="none">
              <a:solidFill>
                <a:schemeClr val="dk1"/>
              </a:solidFill>
              <a:latin typeface="Calibri"/>
              <a:ea typeface="Calibri"/>
              <a:cs typeface="Calibri"/>
              <a:sym typeface="Calibri"/>
            </a:endParaRPr>
          </a:p>
        </p:txBody>
      </p:sp>
      <p:sp>
        <p:nvSpPr>
          <p:cNvPr id="312" name="Google Shape;312;p11"/>
          <p:cNvSpPr/>
          <p:nvPr/>
        </p:nvSpPr>
        <p:spPr>
          <a:xfrm>
            <a:off x="4709160" y="987552"/>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a:off x="4709160" y="987552"/>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1"/>
          <p:cNvSpPr/>
          <p:nvPr/>
        </p:nvSpPr>
        <p:spPr>
          <a:xfrm>
            <a:off x="4846320" y="1042416"/>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[2] Express.js Official Docs</a:t>
            </a:r>
            <a:endParaRPr sz="1050" b="0" i="0" u="none" strike="noStrike" cap="none">
              <a:solidFill>
                <a:schemeClr val="dk1"/>
              </a:solidFill>
              <a:latin typeface="Calibri"/>
              <a:ea typeface="Calibri"/>
              <a:cs typeface="Calibri"/>
              <a:sym typeface="Calibri"/>
            </a:endParaRPr>
          </a:p>
        </p:txBody>
      </p:sp>
      <p:sp>
        <p:nvSpPr>
          <p:cNvPr id="315" name="Google Shape;315;p11"/>
          <p:cNvSpPr/>
          <p:nvPr/>
        </p:nvSpPr>
        <p:spPr>
          <a:xfrm>
            <a:off x="4846320" y="1298448"/>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https://expressjs.com</a:t>
            </a:r>
            <a:endParaRPr sz="900" b="0" i="0" u="none" strike="noStrike" cap="none">
              <a:solidFill>
                <a:schemeClr val="dk1"/>
              </a:solidFill>
              <a:latin typeface="Calibri"/>
              <a:ea typeface="Calibri"/>
              <a:cs typeface="Calibri"/>
              <a:sym typeface="Calibri"/>
            </a:endParaRPr>
          </a:p>
        </p:txBody>
      </p:sp>
      <p:sp>
        <p:nvSpPr>
          <p:cNvPr id="316" name="Google Shape;316;p11"/>
          <p:cNvSpPr/>
          <p:nvPr/>
        </p:nvSpPr>
        <p:spPr>
          <a:xfrm>
            <a:off x="4846320" y="1490472"/>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Web framework for Node.js — routing, middleware, and server setup</a:t>
            </a:r>
            <a:endParaRPr sz="900" b="0" i="0" u="none" strike="noStrike" cap="none">
              <a:solidFill>
                <a:schemeClr val="dk1"/>
              </a:solidFill>
              <a:latin typeface="Calibri"/>
              <a:ea typeface="Calibri"/>
              <a:cs typeface="Calibri"/>
              <a:sym typeface="Calibri"/>
            </a:endParaRPr>
          </a:p>
        </p:txBody>
      </p:sp>
      <p:sp>
        <p:nvSpPr>
          <p:cNvPr id="317" name="Google Shape;317;p11"/>
          <p:cNvSpPr/>
          <p:nvPr/>
        </p:nvSpPr>
        <p:spPr>
          <a:xfrm>
            <a:off x="274320" y="1975104"/>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1"/>
          <p:cNvSpPr/>
          <p:nvPr/>
        </p:nvSpPr>
        <p:spPr>
          <a:xfrm>
            <a:off x="274320" y="1975104"/>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1"/>
          <p:cNvSpPr/>
          <p:nvPr/>
        </p:nvSpPr>
        <p:spPr>
          <a:xfrm>
            <a:off x="411480" y="2029968"/>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[3] MongoDB Official Docs</a:t>
            </a:r>
            <a:endParaRPr sz="1050" b="0" i="0" u="none" strike="noStrike" cap="none">
              <a:solidFill>
                <a:schemeClr val="dk1"/>
              </a:solidFill>
              <a:latin typeface="Calibri"/>
              <a:ea typeface="Calibri"/>
              <a:cs typeface="Calibri"/>
              <a:sym typeface="Calibri"/>
            </a:endParaRPr>
          </a:p>
        </p:txBody>
      </p:sp>
      <p:sp>
        <p:nvSpPr>
          <p:cNvPr id="320" name="Google Shape;320;p11"/>
          <p:cNvSpPr/>
          <p:nvPr/>
        </p:nvSpPr>
        <p:spPr>
          <a:xfrm>
            <a:off x="411480" y="2286000"/>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dirty="0">
                <a:solidFill>
                  <a:srgbClr val="E76F37"/>
                </a:solidFill>
                <a:latin typeface="Calibri"/>
                <a:ea typeface="Calibri"/>
                <a:cs typeface="Calibri"/>
                <a:sym typeface="Calibri"/>
              </a:rPr>
              <a:t>https://www.mongodb.com/docs</a:t>
            </a:r>
            <a:endParaRPr sz="900" b="0" i="0" u="none" strike="noStrike" cap="none" dirty="0">
              <a:solidFill>
                <a:schemeClr val="dk1"/>
              </a:solidFill>
              <a:latin typeface="Calibri"/>
              <a:ea typeface="Calibri"/>
              <a:cs typeface="Calibri"/>
              <a:sym typeface="Calibri"/>
            </a:endParaRPr>
          </a:p>
        </p:txBody>
      </p:sp>
      <p:sp>
        <p:nvSpPr>
          <p:cNvPr id="321" name="Google Shape;321;p11"/>
          <p:cNvSpPr/>
          <p:nvPr/>
        </p:nvSpPr>
        <p:spPr>
          <a:xfrm>
            <a:off x="411480" y="2478024"/>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NoSQL database documentation — queries, schemas, and Atlas setup</a:t>
            </a:r>
            <a:endParaRPr sz="900" b="0" i="0" u="none" strike="noStrike" cap="none">
              <a:solidFill>
                <a:schemeClr val="dk1"/>
              </a:solidFill>
              <a:latin typeface="Calibri"/>
              <a:ea typeface="Calibri"/>
              <a:cs typeface="Calibri"/>
              <a:sym typeface="Calibri"/>
            </a:endParaRPr>
          </a:p>
        </p:txBody>
      </p:sp>
      <p:sp>
        <p:nvSpPr>
          <p:cNvPr id="322" name="Google Shape;322;p11"/>
          <p:cNvSpPr/>
          <p:nvPr/>
        </p:nvSpPr>
        <p:spPr>
          <a:xfrm>
            <a:off x="4709160" y="1975104"/>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4709160" y="1975104"/>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1"/>
          <p:cNvSpPr/>
          <p:nvPr/>
        </p:nvSpPr>
        <p:spPr>
          <a:xfrm>
            <a:off x="4846320" y="2029968"/>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[4] Mongoose Documentation</a:t>
            </a:r>
            <a:endParaRPr sz="1050" b="0" i="0" u="none" strike="noStrike" cap="none">
              <a:solidFill>
                <a:schemeClr val="dk1"/>
              </a:solidFill>
              <a:latin typeface="Calibri"/>
              <a:ea typeface="Calibri"/>
              <a:cs typeface="Calibri"/>
              <a:sym typeface="Calibri"/>
            </a:endParaRPr>
          </a:p>
        </p:txBody>
      </p:sp>
      <p:sp>
        <p:nvSpPr>
          <p:cNvPr id="325" name="Google Shape;325;p11"/>
          <p:cNvSpPr/>
          <p:nvPr/>
        </p:nvSpPr>
        <p:spPr>
          <a:xfrm>
            <a:off x="4846320" y="2286000"/>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https://mongoosejs.com/docs</a:t>
            </a:r>
            <a:endParaRPr sz="900" b="0" i="0" u="none" strike="noStrike" cap="none">
              <a:solidFill>
                <a:schemeClr val="dk1"/>
              </a:solidFill>
              <a:latin typeface="Calibri"/>
              <a:ea typeface="Calibri"/>
              <a:cs typeface="Calibri"/>
              <a:sym typeface="Calibri"/>
            </a:endParaRPr>
          </a:p>
        </p:txBody>
      </p:sp>
      <p:sp>
        <p:nvSpPr>
          <p:cNvPr id="326" name="Google Shape;326;p11"/>
          <p:cNvSpPr/>
          <p:nvPr/>
        </p:nvSpPr>
        <p:spPr>
          <a:xfrm>
            <a:off x="4846320" y="2478024"/>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ODM for MongoDB — model definitions, validation, and methods</a:t>
            </a:r>
            <a:endParaRPr sz="900" b="0" i="0" u="none" strike="noStrike" cap="none">
              <a:solidFill>
                <a:schemeClr val="dk1"/>
              </a:solidFill>
              <a:latin typeface="Calibri"/>
              <a:ea typeface="Calibri"/>
              <a:cs typeface="Calibri"/>
              <a:sym typeface="Calibri"/>
            </a:endParaRPr>
          </a:p>
        </p:txBody>
      </p:sp>
      <p:sp>
        <p:nvSpPr>
          <p:cNvPr id="327" name="Google Shape;327;p11"/>
          <p:cNvSpPr/>
          <p:nvPr/>
        </p:nvSpPr>
        <p:spPr>
          <a:xfrm>
            <a:off x="274320" y="2962656"/>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p:nvPr/>
        </p:nvSpPr>
        <p:spPr>
          <a:xfrm>
            <a:off x="274320" y="2962656"/>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1"/>
          <p:cNvSpPr/>
          <p:nvPr/>
        </p:nvSpPr>
        <p:spPr>
          <a:xfrm>
            <a:off x="411480" y="3017520"/>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[5] EJS Template Engine</a:t>
            </a:r>
            <a:endParaRPr sz="1050" b="0" i="0" u="none" strike="noStrike" cap="none">
              <a:solidFill>
                <a:schemeClr val="dk1"/>
              </a:solidFill>
              <a:latin typeface="Calibri"/>
              <a:ea typeface="Calibri"/>
              <a:cs typeface="Calibri"/>
              <a:sym typeface="Calibri"/>
            </a:endParaRPr>
          </a:p>
        </p:txBody>
      </p:sp>
      <p:sp>
        <p:nvSpPr>
          <p:cNvPr id="330" name="Google Shape;330;p11"/>
          <p:cNvSpPr/>
          <p:nvPr/>
        </p:nvSpPr>
        <p:spPr>
          <a:xfrm>
            <a:off x="411480" y="3273552"/>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https://ejs.co</a:t>
            </a:r>
            <a:endParaRPr sz="900" b="0" i="0" u="none" strike="noStrike" cap="none">
              <a:solidFill>
                <a:schemeClr val="dk1"/>
              </a:solidFill>
              <a:latin typeface="Calibri"/>
              <a:ea typeface="Calibri"/>
              <a:cs typeface="Calibri"/>
              <a:sym typeface="Calibri"/>
            </a:endParaRPr>
          </a:p>
        </p:txBody>
      </p:sp>
      <p:sp>
        <p:nvSpPr>
          <p:cNvPr id="331" name="Google Shape;331;p11"/>
          <p:cNvSpPr/>
          <p:nvPr/>
        </p:nvSpPr>
        <p:spPr>
          <a:xfrm>
            <a:off x="411480" y="3465576"/>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Embedded JavaScript templating used for all server-side rendered views</a:t>
            </a:r>
            <a:endParaRPr sz="900" b="0" i="0" u="none" strike="noStrike" cap="none">
              <a:solidFill>
                <a:schemeClr val="dk1"/>
              </a:solidFill>
              <a:latin typeface="Calibri"/>
              <a:ea typeface="Calibri"/>
              <a:cs typeface="Calibri"/>
              <a:sym typeface="Calibri"/>
            </a:endParaRPr>
          </a:p>
        </p:txBody>
      </p:sp>
      <p:sp>
        <p:nvSpPr>
          <p:cNvPr id="332" name="Google Shape;332;p11"/>
          <p:cNvSpPr/>
          <p:nvPr/>
        </p:nvSpPr>
        <p:spPr>
          <a:xfrm>
            <a:off x="4709160" y="2962656"/>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1"/>
          <p:cNvSpPr/>
          <p:nvPr/>
        </p:nvSpPr>
        <p:spPr>
          <a:xfrm>
            <a:off x="4709160" y="2962656"/>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1"/>
          <p:cNvSpPr/>
          <p:nvPr/>
        </p:nvSpPr>
        <p:spPr>
          <a:xfrm>
            <a:off x="4846320" y="3017520"/>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[6] Chart.js Documentation</a:t>
            </a:r>
            <a:endParaRPr sz="1050" b="0" i="0" u="none" strike="noStrike" cap="none">
              <a:solidFill>
                <a:schemeClr val="dk1"/>
              </a:solidFill>
              <a:latin typeface="Calibri"/>
              <a:ea typeface="Calibri"/>
              <a:cs typeface="Calibri"/>
              <a:sym typeface="Calibri"/>
            </a:endParaRPr>
          </a:p>
        </p:txBody>
      </p:sp>
      <p:sp>
        <p:nvSpPr>
          <p:cNvPr id="335" name="Google Shape;335;p11"/>
          <p:cNvSpPr/>
          <p:nvPr/>
        </p:nvSpPr>
        <p:spPr>
          <a:xfrm>
            <a:off x="4846320" y="3273552"/>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https://www.chartjs.org/docs</a:t>
            </a:r>
            <a:endParaRPr sz="900" b="0" i="0" u="none" strike="noStrike" cap="none">
              <a:solidFill>
                <a:schemeClr val="dk1"/>
              </a:solidFill>
              <a:latin typeface="Calibri"/>
              <a:ea typeface="Calibri"/>
              <a:cs typeface="Calibri"/>
              <a:sym typeface="Calibri"/>
            </a:endParaRPr>
          </a:p>
        </p:txBody>
      </p:sp>
      <p:sp>
        <p:nvSpPr>
          <p:cNvPr id="336" name="Google Shape;336;p11"/>
          <p:cNvSpPr/>
          <p:nvPr/>
        </p:nvSpPr>
        <p:spPr>
          <a:xfrm>
            <a:off x="4846320" y="3465576"/>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JavaScript charting library used for dashboard analytics and graphs</a:t>
            </a:r>
            <a:endParaRPr sz="900" b="0" i="0" u="none" strike="noStrike" cap="none">
              <a:solidFill>
                <a:schemeClr val="dk1"/>
              </a:solidFill>
              <a:latin typeface="Calibri"/>
              <a:ea typeface="Calibri"/>
              <a:cs typeface="Calibri"/>
              <a:sym typeface="Calibri"/>
            </a:endParaRPr>
          </a:p>
        </p:txBody>
      </p:sp>
      <p:sp>
        <p:nvSpPr>
          <p:cNvPr id="337" name="Google Shape;337;p11"/>
          <p:cNvSpPr/>
          <p:nvPr/>
        </p:nvSpPr>
        <p:spPr>
          <a:xfrm>
            <a:off x="274320" y="3950208"/>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1"/>
          <p:cNvSpPr/>
          <p:nvPr/>
        </p:nvSpPr>
        <p:spPr>
          <a:xfrm>
            <a:off x="274320" y="3950208"/>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1"/>
          <p:cNvSpPr/>
          <p:nvPr/>
        </p:nvSpPr>
        <p:spPr>
          <a:xfrm>
            <a:off x="411480" y="4005072"/>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[7] Multer — File Upload Middleware</a:t>
            </a:r>
            <a:endParaRPr sz="1050" b="0" i="0" u="none" strike="noStrike" cap="none">
              <a:solidFill>
                <a:schemeClr val="dk1"/>
              </a:solidFill>
              <a:latin typeface="Calibri"/>
              <a:ea typeface="Calibri"/>
              <a:cs typeface="Calibri"/>
              <a:sym typeface="Calibri"/>
            </a:endParaRPr>
          </a:p>
        </p:txBody>
      </p:sp>
      <p:sp>
        <p:nvSpPr>
          <p:cNvPr id="340" name="Google Shape;340;p11"/>
          <p:cNvSpPr/>
          <p:nvPr/>
        </p:nvSpPr>
        <p:spPr>
          <a:xfrm>
            <a:off x="411480" y="4261104"/>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https://github.com/expressjs/multer</a:t>
            </a:r>
            <a:endParaRPr sz="900" b="0" i="0" u="none" strike="noStrike" cap="none">
              <a:solidFill>
                <a:schemeClr val="dk1"/>
              </a:solidFill>
              <a:latin typeface="Calibri"/>
              <a:ea typeface="Calibri"/>
              <a:cs typeface="Calibri"/>
              <a:sym typeface="Calibri"/>
            </a:endParaRPr>
          </a:p>
        </p:txBody>
      </p:sp>
      <p:sp>
        <p:nvSpPr>
          <p:cNvPr id="341" name="Google Shape;341;p11"/>
          <p:cNvSpPr/>
          <p:nvPr/>
        </p:nvSpPr>
        <p:spPr>
          <a:xfrm>
            <a:off x="411480" y="4453128"/>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Handles multipart/form-data for image uploads in the food management module</a:t>
            </a:r>
            <a:endParaRPr sz="900" b="0" i="0" u="none" strike="noStrike" cap="none">
              <a:solidFill>
                <a:schemeClr val="dk1"/>
              </a:solidFill>
              <a:latin typeface="Calibri"/>
              <a:ea typeface="Calibri"/>
              <a:cs typeface="Calibri"/>
              <a:sym typeface="Calibri"/>
            </a:endParaRPr>
          </a:p>
        </p:txBody>
      </p:sp>
      <p:sp>
        <p:nvSpPr>
          <p:cNvPr id="342" name="Google Shape;342;p11"/>
          <p:cNvSpPr/>
          <p:nvPr/>
        </p:nvSpPr>
        <p:spPr>
          <a:xfrm>
            <a:off x="4709160" y="3950208"/>
            <a:ext cx="4160520" cy="841248"/>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1"/>
          <p:cNvSpPr/>
          <p:nvPr/>
        </p:nvSpPr>
        <p:spPr>
          <a:xfrm>
            <a:off x="4709160" y="3950208"/>
            <a:ext cx="54864" cy="841248"/>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1"/>
          <p:cNvSpPr/>
          <p:nvPr/>
        </p:nvSpPr>
        <p:spPr>
          <a:xfrm>
            <a:off x="4846320" y="4005072"/>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32"/>
              </a:buClr>
              <a:buSzPts val="1050"/>
              <a:buFont typeface="Calibri"/>
              <a:buNone/>
            </a:pPr>
            <a:r>
              <a:rPr lang="en-US" sz="1050" b="1" i="0" u="none" strike="noStrike" cap="none">
                <a:solidFill>
                  <a:srgbClr val="1A2332"/>
                </a:solidFill>
                <a:latin typeface="Calibri"/>
                <a:ea typeface="Calibri"/>
                <a:cs typeface="Calibri"/>
                <a:sym typeface="Calibri"/>
              </a:rPr>
              <a:t>[8] Railway — Cloud Deployment</a:t>
            </a:r>
            <a:endParaRPr sz="1050" b="0" i="0" u="none" strike="noStrike" cap="none">
              <a:solidFill>
                <a:schemeClr val="dk1"/>
              </a:solidFill>
              <a:latin typeface="Calibri"/>
              <a:ea typeface="Calibri"/>
              <a:cs typeface="Calibri"/>
              <a:sym typeface="Calibri"/>
            </a:endParaRPr>
          </a:p>
        </p:txBody>
      </p:sp>
      <p:sp>
        <p:nvSpPr>
          <p:cNvPr id="345" name="Google Shape;345;p11"/>
          <p:cNvSpPr/>
          <p:nvPr/>
        </p:nvSpPr>
        <p:spPr>
          <a:xfrm>
            <a:off x="4846320" y="4261104"/>
            <a:ext cx="38404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37"/>
              </a:buClr>
              <a:buSzPts val="900"/>
              <a:buFont typeface="Calibri"/>
              <a:buNone/>
            </a:pPr>
            <a:r>
              <a:rPr lang="en-US" sz="900" b="0" i="0" u="none" strike="noStrike" cap="none">
                <a:solidFill>
                  <a:srgbClr val="E76F37"/>
                </a:solidFill>
                <a:latin typeface="Calibri"/>
                <a:ea typeface="Calibri"/>
                <a:cs typeface="Calibri"/>
                <a:sym typeface="Calibri"/>
              </a:rPr>
              <a:t>https://railway.app</a:t>
            </a:r>
            <a:endParaRPr sz="900" b="0" i="0" u="none" strike="noStrike" cap="none">
              <a:solidFill>
                <a:schemeClr val="dk1"/>
              </a:solidFill>
              <a:latin typeface="Calibri"/>
              <a:ea typeface="Calibri"/>
              <a:cs typeface="Calibri"/>
              <a:sym typeface="Calibri"/>
            </a:endParaRPr>
          </a:p>
        </p:txBody>
      </p:sp>
      <p:sp>
        <p:nvSpPr>
          <p:cNvPr id="346" name="Google Shape;346;p11"/>
          <p:cNvSpPr/>
          <p:nvPr/>
        </p:nvSpPr>
        <p:spPr>
          <a:xfrm>
            <a:off x="4846320" y="4453128"/>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Platform used to deploy the application online with a public URL</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Shape 356"/>
        <p:cNvGrpSpPr/>
        <p:nvPr/>
      </p:nvGrpSpPr>
      <p:grpSpPr>
        <a:xfrm>
          <a:off x="0" y="0"/>
          <a:ext cx="0" cy="0"/>
          <a:chOff x="0" y="0"/>
          <a:chExt cx="0" cy="0"/>
        </a:xfrm>
      </p:grpSpPr>
      <p:sp>
        <p:nvSpPr>
          <p:cNvPr id="357" name="Google Shape;357;p12"/>
          <p:cNvSpPr/>
          <p:nvPr/>
        </p:nvSpPr>
        <p:spPr>
          <a:xfrm>
            <a:off x="2743200" y="-914400"/>
            <a:ext cx="5486400" cy="5486400"/>
          </a:xfrm>
          <a:prstGeom prst="ellipse">
            <a:avLst/>
          </a:prstGeom>
          <a:solidFill>
            <a:srgbClr val="E76F37">
              <a:alpha val="7843"/>
            </a:srgbClr>
          </a:solidFill>
          <a:ln w="12700" cap="flat" cmpd="sng">
            <a:solidFill>
              <a:srgbClr val="E76F37">
                <a:alpha val="14901"/>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2"/>
          <p:cNvSpPr/>
          <p:nvPr/>
        </p:nvSpPr>
        <p:spPr>
          <a:xfrm>
            <a:off x="-1421606" y="2286000"/>
            <a:ext cx="3657600" cy="3657600"/>
          </a:xfrm>
          <a:prstGeom prst="ellipse">
            <a:avLst/>
          </a:prstGeom>
          <a:solidFill>
            <a:srgbClr val="C85A24">
              <a:alpha val="10196"/>
            </a:srgbClr>
          </a:solidFill>
          <a:ln w="12700" cap="flat" cmpd="sng">
            <a:solidFill>
              <a:srgbClr val="C85A24">
                <a:alpha val="14901"/>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2"/>
          <p:cNvSpPr/>
          <p:nvPr/>
        </p:nvSpPr>
        <p:spPr>
          <a:xfrm>
            <a:off x="3749040" y="365760"/>
            <a:ext cx="1645920" cy="137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5800"/>
              <a:buFont typeface="Calibri"/>
              <a:buNone/>
            </a:pPr>
            <a:r>
              <a:rPr lang="en-US" sz="5800" b="0" i="0" u="none" strike="noStrike" cap="none">
                <a:solidFill>
                  <a:srgbClr val="000000"/>
                </a:solidFill>
                <a:latin typeface="Calibri"/>
                <a:ea typeface="Calibri"/>
                <a:cs typeface="Calibri"/>
                <a:sym typeface="Calibri"/>
              </a:rPr>
              <a:t>🍽️</a:t>
            </a:r>
            <a:endParaRPr sz="5800" b="0" i="0" u="none" strike="noStrike" cap="none">
              <a:solidFill>
                <a:schemeClr val="dk1"/>
              </a:solidFill>
              <a:latin typeface="Calibri"/>
              <a:ea typeface="Calibri"/>
              <a:cs typeface="Calibri"/>
              <a:sym typeface="Calibri"/>
            </a:endParaRPr>
          </a:p>
        </p:txBody>
      </p:sp>
      <p:sp>
        <p:nvSpPr>
          <p:cNvPr id="360" name="Google Shape;360;p12"/>
          <p:cNvSpPr/>
          <p:nvPr/>
        </p:nvSpPr>
        <p:spPr>
          <a:xfrm>
            <a:off x="914400" y="1600200"/>
            <a:ext cx="731520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200"/>
              <a:buFont typeface="Georgia"/>
              <a:buNone/>
            </a:pPr>
            <a:r>
              <a:rPr lang="en-US" sz="5200" b="1" i="0" u="none" strike="noStrike" cap="none">
                <a:solidFill>
                  <a:srgbClr val="FFFFFF"/>
                </a:solidFill>
                <a:latin typeface="Georgia"/>
                <a:ea typeface="Georgia"/>
                <a:cs typeface="Georgia"/>
                <a:sym typeface="Georgia"/>
              </a:rPr>
              <a:t>Thank You!</a:t>
            </a:r>
            <a:endParaRPr sz="5200" b="0" i="0" u="none" strike="noStrike" cap="none">
              <a:solidFill>
                <a:schemeClr val="dk1"/>
              </a:solidFill>
              <a:latin typeface="Calibri"/>
              <a:ea typeface="Calibri"/>
              <a:cs typeface="Calibri"/>
              <a:sym typeface="Calibri"/>
            </a:endParaRPr>
          </a:p>
        </p:txBody>
      </p:sp>
      <p:sp>
        <p:nvSpPr>
          <p:cNvPr id="361" name="Google Shape;361;p12"/>
          <p:cNvSpPr/>
          <p:nvPr/>
        </p:nvSpPr>
        <p:spPr>
          <a:xfrm>
            <a:off x="914400" y="2514600"/>
            <a:ext cx="7315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76F37"/>
              </a:buClr>
              <a:buSzPts val="1600"/>
              <a:buFont typeface="Calibri"/>
              <a:buNone/>
            </a:pPr>
            <a:r>
              <a:rPr lang="en-US" sz="1600" b="0" i="0" u="none" strike="noStrike" cap="none">
                <a:solidFill>
                  <a:srgbClr val="E76F37"/>
                </a:solidFill>
                <a:latin typeface="Calibri"/>
                <a:ea typeface="Calibri"/>
                <a:cs typeface="Calibri"/>
                <a:sym typeface="Calibri"/>
              </a:rPr>
              <a:t>ForkLine — Restaurant Management System</a:t>
            </a:r>
            <a:endParaRPr sz="1600" b="0" i="0" u="none" strike="noStrike" cap="none">
              <a:solidFill>
                <a:schemeClr val="dk1"/>
              </a:solidFill>
              <a:latin typeface="Calibri"/>
              <a:ea typeface="Calibri"/>
              <a:cs typeface="Calibri"/>
              <a:sym typeface="Calibri"/>
            </a:endParaRPr>
          </a:p>
        </p:txBody>
      </p:sp>
      <p:sp>
        <p:nvSpPr>
          <p:cNvPr id="362" name="Google Shape;362;p12"/>
          <p:cNvSpPr/>
          <p:nvPr/>
        </p:nvSpPr>
        <p:spPr>
          <a:xfrm>
            <a:off x="914400" y="2944368"/>
            <a:ext cx="731520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Built entirely using AI Prompt Engineering with Claude AI</a:t>
            </a:r>
            <a:endParaRPr sz="1300" b="0" i="0" u="none" strike="noStrike" cap="none">
              <a:solidFill>
                <a:schemeClr val="dk1"/>
              </a:solidFill>
              <a:latin typeface="Calibri"/>
              <a:ea typeface="Calibri"/>
              <a:cs typeface="Calibri"/>
              <a:sym typeface="Calibri"/>
            </a:endParaRPr>
          </a:p>
        </p:txBody>
      </p:sp>
      <p:sp>
        <p:nvSpPr>
          <p:cNvPr id="363" name="Google Shape;363;p12"/>
          <p:cNvSpPr/>
          <p:nvPr/>
        </p:nvSpPr>
        <p:spPr>
          <a:xfrm>
            <a:off x="3200400" y="3456432"/>
            <a:ext cx="2743200" cy="36576"/>
          </a:xfrm>
          <a:prstGeom prst="rect">
            <a:avLst/>
          </a:prstGeom>
          <a:solidFill>
            <a:srgbClr val="E76F37"/>
          </a:solidFill>
          <a:ln w="12700" cap="flat" cmpd="sng">
            <a:solidFill>
              <a:srgbClr val="E76F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440</TotalTime>
  <Words>875</Words>
  <Application>Microsoft Office PowerPoint</Application>
  <PresentationFormat>On-screen Show (16:9)</PresentationFormat>
  <Paragraphs>191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Team ForkLine</dc:creator>
  <cp:lastModifiedBy>Madikonda Harshavardhanrao</cp:lastModifiedBy>
  <cp:revision>3</cp:revision>
  <dcterms:created xsi:type="dcterms:W3CDTF">2026-04-01T14:47:46Z</dcterms:created>
  <dcterms:modified xsi:type="dcterms:W3CDTF">2026-04-21T06:17:26Z</dcterms:modified>
</cp:coreProperties>
</file>